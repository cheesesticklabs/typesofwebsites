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c02bde0d4214934" /><Relationship Type="http://schemas.openxmlformats.org/officeDocument/2006/relationships/extended-properties" Target="/docProps/app.xml" Id="R666bc526583340ad" /><Relationship Type="http://schemas.openxmlformats.org/officeDocument/2006/relationships/officeDocument" Target="/ppt/presentation.xml" Id="Re499b581aa494b9a"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cfc31424870549ed"/>
  </p:sldMasterIdLst>
  <p:notesMasterIdLst>
    <p:notesMasterId xmlns:r="http://schemas.openxmlformats.org/officeDocument/2006/relationships" r:id="Ra23214f95320471f"/>
  </p:notesMasterIdLst>
  <p:sldIdLst>
    <p:sldId xmlns:r="http://schemas.openxmlformats.org/officeDocument/2006/relationships" id="256" r:id="Rb28b8573d131478e"/>
    <p:sldId xmlns:r="http://schemas.openxmlformats.org/officeDocument/2006/relationships" id="257" r:id="Rf1cee607d80b4576"/>
    <p:sldId xmlns:r="http://schemas.openxmlformats.org/officeDocument/2006/relationships" id="258" r:id="Rd2c97305684d4534"/>
    <p:sldId xmlns:r="http://schemas.openxmlformats.org/officeDocument/2006/relationships" id="259" r:id="R0bd5b60b77484d4d"/>
    <p:sldId xmlns:r="http://schemas.openxmlformats.org/officeDocument/2006/relationships" id="260" r:id="R5959cb626c1848aa"/>
    <p:sldId xmlns:r="http://schemas.openxmlformats.org/officeDocument/2006/relationships" id="261" r:id="R18638cca3c7d42c7"/>
    <p:sldId xmlns:r="http://schemas.openxmlformats.org/officeDocument/2006/relationships" id="262" r:id="Rd8e0e551c7704f32"/>
    <p:sldId xmlns:r="http://schemas.openxmlformats.org/officeDocument/2006/relationships" id="263" r:id="R2e5c90986dab4182"/>
    <p:sldId xmlns:r="http://schemas.openxmlformats.org/officeDocument/2006/relationships" id="264" r:id="R0ed5a5cc14c84fe4"/>
    <p:sldId xmlns:r="http://schemas.openxmlformats.org/officeDocument/2006/relationships" id="265" r:id="R09a02536231a4b07"/>
    <p:sldId xmlns:r="http://schemas.openxmlformats.org/officeDocument/2006/relationships" id="266" r:id="Rb1ee010e08c54873"/>
    <p:sldId xmlns:r="http://schemas.openxmlformats.org/officeDocument/2006/relationships" id="267" r:id="R329f0dd466674f2a"/>
    <p:sldId xmlns:r="http://schemas.openxmlformats.org/officeDocument/2006/relationships" id="268" r:id="R693301ff038f4f89"/>
    <p:sldId xmlns:r="http://schemas.openxmlformats.org/officeDocument/2006/relationships" id="269" r:id="R5bbfe4b278cf4dfb"/>
    <p:sldId xmlns:r="http://schemas.openxmlformats.org/officeDocument/2006/relationships" id="270" r:id="Rdfd5dc64fb6843dd"/>
    <p:sldId xmlns:r="http://schemas.openxmlformats.org/officeDocument/2006/relationships" id="271" r:id="R1de5b70e60c04ece"/>
    <p:sldId xmlns:r="http://schemas.openxmlformats.org/officeDocument/2006/relationships" id="272" r:id="R417e2f55461d4aec"/>
    <p:sldId xmlns:r="http://schemas.openxmlformats.org/officeDocument/2006/relationships" id="273" r:id="R1941057f0144400f"/>
    <p:sldId xmlns:r="http://schemas.openxmlformats.org/officeDocument/2006/relationships" id="274" r:id="Ra9aa29fdeb924bd3"/>
    <p:sldId xmlns:r="http://schemas.openxmlformats.org/officeDocument/2006/relationships" id="275" r:id="R9f943eafa9344d0e"/>
    <p:sldId xmlns:r="http://schemas.openxmlformats.org/officeDocument/2006/relationships" id="276" r:id="Rff3b0e5ab1ac4f09"/>
    <p:sldId xmlns:r="http://schemas.openxmlformats.org/officeDocument/2006/relationships" id="277" r:id="R27a238e91bc24eb6"/>
    <p:sldId xmlns:r="http://schemas.openxmlformats.org/officeDocument/2006/relationships" id="278" r:id="R53c99df9fe6b451c"/>
    <p:sldId xmlns:r="http://schemas.openxmlformats.org/officeDocument/2006/relationships" id="279" r:id="Re1ea5348e64645d0"/>
    <p:sldId xmlns:r="http://schemas.openxmlformats.org/officeDocument/2006/relationships" id="280" r:id="R225b7aae644145b5"/>
    <p:sldId xmlns:r="http://schemas.openxmlformats.org/officeDocument/2006/relationships" id="281" r:id="R76ab961b89c946d1"/>
    <p:sldId xmlns:r="http://schemas.openxmlformats.org/officeDocument/2006/relationships" id="282" r:id="Rb5a47cf867cf4d73"/>
    <p:sldId xmlns:r="http://schemas.openxmlformats.org/officeDocument/2006/relationships" id="283" r:id="Re1addb5cae2a4528"/>
    <p:sldId xmlns:r="http://schemas.openxmlformats.org/officeDocument/2006/relationships" id="284" r:id="Rb7f9e509b65a4731"/>
    <p:sldId xmlns:r="http://schemas.openxmlformats.org/officeDocument/2006/relationships" id="285" r:id="Rb8bed845ef4a481e"/>
    <p:sldId xmlns:r="http://schemas.openxmlformats.org/officeDocument/2006/relationships" id="286" r:id="R16859506e07440af"/>
    <p:sldId xmlns:r="http://schemas.openxmlformats.org/officeDocument/2006/relationships" id="287" r:id="R9ff6ba0e86884e5b"/>
    <p:sldId xmlns:r="http://schemas.openxmlformats.org/officeDocument/2006/relationships" id="288" r:id="Rad323845a3ab4504"/>
    <p:sldId xmlns:r="http://schemas.openxmlformats.org/officeDocument/2006/relationships" id="289" r:id="Rd816666c74bd420c"/>
  </p:sldIdLst>
  <p:sldSz cx="9144000" cy="5143500"/>
  <p:notesSz cx="6858000" cy="9144000"/>
  <p:embeddedFontLst>
    <p:embeddedFont>
      <p:font typeface="Lexend"/>
      <p:regular xmlns:r="http://schemas.openxmlformats.org/officeDocument/2006/relationships" r:id="R6dd8aa34a0c7480e"/>
      <p:bold xmlns:r="http://schemas.openxmlformats.org/officeDocument/2006/relationships" r:id="R07ad3b67e0fa466a"/>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6386c890bbf74714" /><Relationship Type="http://schemas.openxmlformats.org/officeDocument/2006/relationships/slideMaster" Target="/ppt/slideMasters/slideMaster1.xml" Id="Rcfc31424870549ed" /><Relationship Type="http://schemas.openxmlformats.org/officeDocument/2006/relationships/notesMaster" Target="/ppt/notesMasters/notesMaster1.xml" Id="Ra23214f95320471f" /><Relationship Type="http://schemas.openxmlformats.org/officeDocument/2006/relationships/presProps" Target="/ppt/presProps.xml" Id="R46f5bce1f28e4c55" /><Relationship Type="http://schemas.openxmlformats.org/officeDocument/2006/relationships/viewProps" Target="/ppt/viewProps.xml" Id="R8ecfe63802794cd7" /><Relationship Type="http://schemas.openxmlformats.org/officeDocument/2006/relationships/tableStyles" Target="/ppt/tableStyles.xml" Id="R25422dc8a7ed4e62" /><Relationship Type="http://schemas.openxmlformats.org/officeDocument/2006/relationships/font" Target="/ppt/fonts/font.dat" Id="R6dd8aa34a0c7480e" /><Relationship Type="http://schemas.openxmlformats.org/officeDocument/2006/relationships/font" Target="/ppt/fonts/font2.dat" Id="R07ad3b67e0fa466a" /><Relationship Type="http://schemas.openxmlformats.org/officeDocument/2006/relationships/slide" Target="/ppt/slides/slide1.xml" Id="Rb28b8573d131478e" /><Relationship Type="http://schemas.openxmlformats.org/officeDocument/2006/relationships/slide" Target="/ppt/slides/slide2.xml" Id="Rf1cee607d80b4576" /><Relationship Type="http://schemas.openxmlformats.org/officeDocument/2006/relationships/slide" Target="/ppt/slides/slide3.xml" Id="Rd2c97305684d4534" /><Relationship Type="http://schemas.openxmlformats.org/officeDocument/2006/relationships/slide" Target="/ppt/slides/slide4.xml" Id="R0bd5b60b77484d4d" /><Relationship Type="http://schemas.openxmlformats.org/officeDocument/2006/relationships/slide" Target="/ppt/slides/slide5.xml" Id="R5959cb626c1848aa" /><Relationship Type="http://schemas.openxmlformats.org/officeDocument/2006/relationships/slide" Target="/ppt/slides/slide6.xml" Id="R18638cca3c7d42c7" /><Relationship Type="http://schemas.openxmlformats.org/officeDocument/2006/relationships/slide" Target="/ppt/slides/slide7.xml" Id="Rd8e0e551c7704f32" /><Relationship Type="http://schemas.openxmlformats.org/officeDocument/2006/relationships/slide" Target="/ppt/slides/slide8.xml" Id="R2e5c90986dab4182" /><Relationship Type="http://schemas.openxmlformats.org/officeDocument/2006/relationships/slide" Target="/ppt/slides/slide9.xml" Id="R0ed5a5cc14c84fe4" /><Relationship Type="http://schemas.openxmlformats.org/officeDocument/2006/relationships/slide" Target="/ppt/slides/slide10.xml" Id="R09a02536231a4b07" /><Relationship Type="http://schemas.openxmlformats.org/officeDocument/2006/relationships/slide" Target="/ppt/slides/slide11.xml" Id="Rb1ee010e08c54873" /><Relationship Type="http://schemas.openxmlformats.org/officeDocument/2006/relationships/slide" Target="/ppt/slides/slide12.xml" Id="R329f0dd466674f2a" /><Relationship Type="http://schemas.openxmlformats.org/officeDocument/2006/relationships/slide" Target="/ppt/slides/slide13.xml" Id="R693301ff038f4f89" /><Relationship Type="http://schemas.openxmlformats.org/officeDocument/2006/relationships/slide" Target="/ppt/slides/slide14.xml" Id="R5bbfe4b278cf4dfb" /><Relationship Type="http://schemas.openxmlformats.org/officeDocument/2006/relationships/slide" Target="/ppt/slides/slide15.xml" Id="Rdfd5dc64fb6843dd" /><Relationship Type="http://schemas.openxmlformats.org/officeDocument/2006/relationships/slide" Target="/ppt/slides/slide16.xml" Id="R1de5b70e60c04ece" /><Relationship Type="http://schemas.openxmlformats.org/officeDocument/2006/relationships/slide" Target="/ppt/slides/slide17.xml" Id="R417e2f55461d4aec" /><Relationship Type="http://schemas.openxmlformats.org/officeDocument/2006/relationships/slide" Target="/ppt/slides/slide18.xml" Id="R1941057f0144400f" /><Relationship Type="http://schemas.openxmlformats.org/officeDocument/2006/relationships/slide" Target="/ppt/slides/slide19.xml" Id="Ra9aa29fdeb924bd3" /><Relationship Type="http://schemas.openxmlformats.org/officeDocument/2006/relationships/slide" Target="/ppt/slides/slide20.xml" Id="R9f943eafa9344d0e" /><Relationship Type="http://schemas.openxmlformats.org/officeDocument/2006/relationships/slide" Target="/ppt/slides/slide21.xml" Id="Rff3b0e5ab1ac4f09" /><Relationship Type="http://schemas.openxmlformats.org/officeDocument/2006/relationships/slide" Target="/ppt/slides/slide22.xml" Id="R27a238e91bc24eb6" /><Relationship Type="http://schemas.openxmlformats.org/officeDocument/2006/relationships/slide" Target="/ppt/slides/slide23.xml" Id="R53c99df9fe6b451c" /><Relationship Type="http://schemas.openxmlformats.org/officeDocument/2006/relationships/slide" Target="/ppt/slides/slide24.xml" Id="Re1ea5348e64645d0" /><Relationship Type="http://schemas.openxmlformats.org/officeDocument/2006/relationships/slide" Target="/ppt/slides/slide25.xml" Id="R225b7aae644145b5" /><Relationship Type="http://schemas.openxmlformats.org/officeDocument/2006/relationships/slide" Target="/ppt/slides/slide26.xml" Id="R76ab961b89c946d1" /><Relationship Type="http://schemas.openxmlformats.org/officeDocument/2006/relationships/slide" Target="/ppt/slides/slide27.xml" Id="Rb5a47cf867cf4d73" /><Relationship Type="http://schemas.openxmlformats.org/officeDocument/2006/relationships/slide" Target="/ppt/slides/slide28.xml" Id="Re1addb5cae2a4528" /><Relationship Type="http://schemas.openxmlformats.org/officeDocument/2006/relationships/slide" Target="/ppt/slides/slide29.xml" Id="Rb7f9e509b65a4731" /><Relationship Type="http://schemas.openxmlformats.org/officeDocument/2006/relationships/slide" Target="/ppt/slides/slide30.xml" Id="Rb8bed845ef4a481e" /><Relationship Type="http://schemas.openxmlformats.org/officeDocument/2006/relationships/slide" Target="/ppt/slides/slide31.xml" Id="R16859506e07440af" /><Relationship Type="http://schemas.openxmlformats.org/officeDocument/2006/relationships/slide" Target="/ppt/slides/slide32.xml" Id="R9ff6ba0e86884e5b" /><Relationship Type="http://schemas.openxmlformats.org/officeDocument/2006/relationships/slide" Target="/ppt/slides/slide33.xml" Id="Rad323845a3ab4504" /><Relationship Type="http://schemas.openxmlformats.org/officeDocument/2006/relationships/slide" Target="/ppt/slides/slide34.xml" Id="Rd816666c74bd42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8dc02482b1641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12b45f1ff87489d" /><Relationship Type="http://schemas.openxmlformats.org/officeDocument/2006/relationships/notesMaster" Target="/ppt/notesMasters/notesMaster1.xml" Id="R36ea37c2c69c4477"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2972e14bd442c8" /><Relationship Type="http://schemas.openxmlformats.org/officeDocument/2006/relationships/notesMaster" Target="/ppt/notesMasters/notesMaster1.xml" Id="Rc3b91cd8e71149d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40ecacd88f04879" /><Relationship Type="http://schemas.openxmlformats.org/officeDocument/2006/relationships/notesMaster" Target="/ppt/notesMasters/notesMaster1.xml" Id="R6f8dac88ce92414d" /></Relationships>
</file>

<file path=ppt/notesSlides/_rels/notesSlide4.xml.rels>&#65279;<?xml version="1.0" encoding="utf-8"?><Relationships xmlns="http://schemas.openxmlformats.org/package/2006/relationships"><Relationship Type="http://schemas.openxmlformats.org/officeDocument/2006/relationships/slide" Target="/ppt/slides/slide4.xml" Id="R3e9f34f7dd19497f" /><Relationship Type="http://schemas.openxmlformats.org/officeDocument/2006/relationships/notesMaster" Target="/ppt/notesMasters/notesMaster1.xml" Id="R974d9cae3a9b4d4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528e7d7809343a1" /><Relationship Type="http://schemas.openxmlformats.org/officeDocument/2006/relationships/notesMaster" Target="/ppt/notesMasters/notesMaster1.xml" Id="Rb0e1129dcc424c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b1a03226ec954bbb" /><Relationship Type="http://schemas.openxmlformats.org/officeDocument/2006/relationships/notesMaster" Target="/ppt/notesMasters/notesMaster1.xml" Id="Redd273b9ce614c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3dad01552be4ba1" /><Relationship Type="http://schemas.openxmlformats.org/officeDocument/2006/relationships/notesMaster" Target="/ppt/notesMasters/notesMaster1.xml" Id="R6a5b051584334082" /></Relationships>
</file>

<file path=ppt/notesSlides/_rels/notesSlide8.xml.rels>&#65279;<?xml version="1.0" encoding="utf-8"?><Relationships xmlns="http://schemas.openxmlformats.org/package/2006/relationships"><Relationship Type="http://schemas.openxmlformats.org/officeDocument/2006/relationships/slide" Target="/ppt/slides/slide8.xml" Id="Rd4c0d51f39f74d35" /><Relationship Type="http://schemas.openxmlformats.org/officeDocument/2006/relationships/notesMaster" Target="/ppt/notesMasters/notesMaster1.xml" Id="Re40f76f0c2b44bba" /></Relationships>
</file>

<file path=ppt/notesSlides/_rels/notesSlide9.xml.rels>&#65279;<?xml version="1.0" encoding="utf-8"?><Relationships xmlns="http://schemas.openxmlformats.org/package/2006/relationships"><Relationship Type="http://schemas.openxmlformats.org/officeDocument/2006/relationships/slide" Target="/ppt/slides/slide9.xml" Id="R654a3ef1f1cb435b" /><Relationship Type="http://schemas.openxmlformats.org/officeDocument/2006/relationships/notesMaster" Target="/ppt/notesMasters/notesMaster1.xml" Id="R06b7045d8b07414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dab65e6e4ad4bba" /><Relationship Type="http://schemas.openxmlformats.org/officeDocument/2006/relationships/notesMaster" Target="/ppt/notesMasters/notesMaster1.xml" Id="Ra3847336a3b149f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23ead3deece468c" /><Relationship Type="http://schemas.openxmlformats.org/officeDocument/2006/relationships/notesMaster" Target="/ppt/notesMasters/notesMaster1.xml" Id="R662784b8e9834b3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b87abe96f8a4ab2" /><Relationship Type="http://schemas.openxmlformats.org/officeDocument/2006/relationships/notesMaster" Target="/ppt/notesMasters/notesMaster1.xml" Id="Ra5a65114ac42425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997a68a01e54a4d" /><Relationship Type="http://schemas.openxmlformats.org/officeDocument/2006/relationships/notesMaster" Target="/ppt/notesMasters/notesMaster1.xml" Id="Rb29b679d54a246f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a44102e5c5048b2" /><Relationship Type="http://schemas.openxmlformats.org/officeDocument/2006/relationships/notesMaster" Target="/ppt/notesMasters/notesMaster1.xml" Id="Rc0dcfb7114924a4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bd1ba8d587b456f" /><Relationship Type="http://schemas.openxmlformats.org/officeDocument/2006/relationships/notesMaster" Target="/ppt/notesMasters/notesMaster1.xml" Id="R8cab595268fe459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4d32deff089452e" /><Relationship Type="http://schemas.openxmlformats.org/officeDocument/2006/relationships/notesMaster" Target="/ppt/notesMasters/notesMaster1.xml" Id="R5f57df94c009427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20ea92404234776" /><Relationship Type="http://schemas.openxmlformats.org/officeDocument/2006/relationships/notesMaster" Target="/ppt/notesMasters/notesMaster1.xml" Id="Re8569f089233439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36fc8fc9f3a41e2" /><Relationship Type="http://schemas.openxmlformats.org/officeDocument/2006/relationships/notesMaster" Target="/ppt/notesMasters/notesMaster1.xml" Id="R0240b7b22f6e456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03ec4cc9ded4a73" /><Relationship Type="http://schemas.openxmlformats.org/officeDocument/2006/relationships/notesMaster" Target="/ppt/notesMasters/notesMaster1.xml" Id="R38bd488d65a9405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90ce72fb77e4fb6" /><Relationship Type="http://schemas.openxmlformats.org/officeDocument/2006/relationships/notesMaster" Target="/ppt/notesMasters/notesMaster1.xml" Id="Rbe17113c585c4a1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a0ef61a39ca4b7c" /><Relationship Type="http://schemas.openxmlformats.org/officeDocument/2006/relationships/notesMaster" Target="/ppt/notesMasters/notesMaster1.xml" Id="Rc9741d0d88e6471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fe5fce639e4400e" /><Relationship Type="http://schemas.openxmlformats.org/officeDocument/2006/relationships/notesMaster" Target="/ppt/notesMasters/notesMaster1.xml" Id="R7208928fa22b401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16addeba4cf4159" /><Relationship Type="http://schemas.openxmlformats.org/officeDocument/2006/relationships/notesMaster" Target="/ppt/notesMasters/notesMaster1.xml" Id="R87d68e55c8924a7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311cb7e655c4069" /><Relationship Type="http://schemas.openxmlformats.org/officeDocument/2006/relationships/notesMaster" Target="/ppt/notesMasters/notesMaster1.xml" Id="Rcfda9d7b5700441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f9236afafd7475b" /><Relationship Type="http://schemas.openxmlformats.org/officeDocument/2006/relationships/notesMaster" Target="/ppt/notesMasters/notesMaster1.xml" Id="Ra860dbb1f26d49c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b5d3a9b1e184238" /><Relationship Type="http://schemas.openxmlformats.org/officeDocument/2006/relationships/notesMaster" Target="/ppt/notesMasters/notesMaster1.xml" Id="R52e2ecb10716438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c86623e50c04e85" /><Relationship Type="http://schemas.openxmlformats.org/officeDocument/2006/relationships/notesMaster" Target="/ppt/notesMasters/notesMaster1.xml" Id="R22cd3989992d432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40f66e9941a4237" /><Relationship Type="http://schemas.openxmlformats.org/officeDocument/2006/relationships/notesMaster" Target="/ppt/notesMasters/notesMaster1.xml" Id="Rd4fa72f644df4fb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3b0bfed5430405d" /><Relationship Type="http://schemas.openxmlformats.org/officeDocument/2006/relationships/notesMaster" Target="/ppt/notesMasters/notesMaster1.xml" Id="R15969ba3a521492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a2b14888e2249ea" /><Relationship Type="http://schemas.openxmlformats.org/officeDocument/2006/relationships/notesMaster" Target="/ppt/notesMasters/notesMaster1.xml" Id="Rf1818bf51315423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75605f98b4c4d77" /><Relationship Type="http://schemas.openxmlformats.org/officeDocument/2006/relationships/notesMaster" Target="/ppt/notesMasters/notesMaster1.xml" Id="R81f301496acf4a7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edcd199fbee45fa" /><Relationship Type="http://schemas.openxmlformats.org/officeDocument/2006/relationships/notesMaster" Target="/ppt/notesMasters/notesMaster1.xml" Id="R41b5200ed553428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f53e722b461444e" /><Relationship Type="http://schemas.openxmlformats.org/officeDocument/2006/relationships/notesMaster" Target="/ppt/notesMasters/notesMaster1.xml" Id="Re92368b4917f466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286cd3ac167485e" /><Relationship Type="http://schemas.openxmlformats.org/officeDocument/2006/relationships/notesMaster" Target="/ppt/notesMasters/notesMaster1.xml" Id="R9e7e2c73c7c9492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0–9 min. Lab page 1. Students match CSSA features, adjust the sample site, and explain one change. 5 min work, 2 min partner explanation, 2 min share. Accept overlap if justified.</a:t>
            </a:r>
            <a:endParaRPr/>
          </a:p>
          <a:p xmlns:a="http://schemas.openxmlformats.org/drawingml/2006/main">
            <a:pPr marL="0" lvl="0" indent="0" algn="l">
              <a:spcBef>
                <a:spcPts val="0"/>
              </a:spcBef>
              <a:spcAft>
                <a:spcPts val="0"/>
              </a:spcAft>
              <a:buNone/>
            </a:pPr>
            <a:r>
              <a:t>Source: user-supplied observation lesson plan and Cheesestick Labs design notes. Fictional classroom examples adapted from supplied rough lab.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Essential question: How does a website’s purpose influence its design? The lab now has a short Purpose overview on page 2. Fold it into the first guided cycle within the 15-minute block.</a:t>
            </a:r>
            <a:endParaRPr/>
          </a:p>
          <a:p xmlns:a="http://schemas.openxmlformats.org/drawingml/2006/main">
            <a:pPr marL="0" lvl="0" indent="0" algn="l">
              <a:spcBef>
                <a:spcPts val="0"/>
              </a:spcBef>
              <a:spcAft>
                <a:spcPts val="0"/>
              </a:spcAft>
              <a:buNone/>
            </a:pPr>
            <a:r>
              <a:t>Source: user-supplied observation lesson plan and Cheesestick Labs design notes. Fictional classroom examples adapted from supplied rough lab.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Success criteria: a defensible purpose, a specific numbered annotation, accurate CSSA category, and an explanation of the connection.</a:t>
            </a:r>
            <a:endParaRPr/>
          </a:p>
          <a:p xmlns:a="http://schemas.openxmlformats.org/drawingml/2006/main">
            <a:pPr marL="0" lvl="0" indent="0" algn="l">
              <a:spcBef>
                <a:spcPts val="0"/>
              </a:spcBef>
              <a:spcAft>
                <a:spcPts val="0"/>
              </a:spcAft>
              <a:buNone/>
            </a:pPr>
            <a:r>
              <a:t>Source: user-supplied observation lesson plan and Cheesestick Labs design notes. Fictional classroom examples adapted from supplied rough lab.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Discuss why navigation is structure and captions support accessibility. Style and accessibility can overlap, as with contrast.</a:t>
            </a:r>
            <a:endParaRPr/>
          </a:p>
          <a:p xmlns:a="http://schemas.openxmlformats.org/drawingml/2006/main">
            <a:pPr marL="0" lvl="0" indent="0" algn="l">
              <a:spcBef>
                <a:spcPts val="0"/>
              </a:spcBef>
              <a:spcAft>
                <a:spcPts val="0"/>
              </a:spcAft>
              <a:buNone/>
            </a:pPr>
            <a:r>
              <a:t>Source: user-supplied observation lesson plan and Cheesestick Labs design notes. Fictional classroom examples adapted from supplied rough lab.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Purpose is a goal. CSSA gives us the design features we can use as evidence. Three common purposes today, not an exhaustive classification.</a:t>
            </a:r>
            <a:endParaRPr/>
          </a:p>
          <a:p xmlns:a="http://schemas.openxmlformats.org/drawingml/2006/main">
            <a:pPr marL="0" lvl="0" indent="0" algn="l">
              <a:spcBef>
                <a:spcPts val="0"/>
              </a:spcBef>
              <a:spcAft>
                <a:spcPts val="0"/>
              </a:spcAft>
              <a:buNone/>
            </a:pPr>
            <a:r>
              <a:t>Source: user-supplied observation lesson plan and Cheesestick Labs design notes. Fictional classroom examples adapted from supplied rough lab.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Do not assign extra time beyond the 15-minute cycle. Fold this introduction into the first information cycle.</a:t>
            </a:r>
            <a:endParaRPr/>
          </a:p>
          <a:p xmlns:a="http://schemas.openxmlformats.org/drawingml/2006/main">
            <a:pPr marL="0" lvl="0" indent="0" algn="l">
              <a:spcBef>
                <a:spcPts val="0"/>
              </a:spcBef>
              <a:spcAft>
                <a:spcPts val="0"/>
              </a:spcAft>
              <a:buNone/>
            </a:pPr>
            <a:r>
              <a:t>Source: user-supplied observation lesson plan and Cheesestick Labs design notes. Fictional classroom examples adapted from supplied rough lab.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Answer: 2001. Opens Information and prior pages. Introduce the movie-title theme verbally. Do not show all answers to students.</a:t>
            </a:r>
            <a:endParaRPr/>
          </a:p>
          <a:p xmlns:a="http://schemas.openxmlformats.org/drawingml/2006/main">
            <a:pPr marL="0" lvl="0" indent="0" algn="l">
              <a:spcBef>
                <a:spcPts val="0"/>
              </a:spcBef>
              <a:spcAft>
                <a:spcPts val="0"/>
              </a:spcAft>
              <a:buNone/>
            </a:pPr>
            <a:r>
              <a:t>Source: user-supplied observation lesson plan and Cheesestick Labs design notes. Fictional classroom examples adapted from supplied rough lab.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Guided cycle 1, minutes 9–14. About 2 min teaching including purpose intro, 2 min annotation and written check, 1 min share.</a:t>
            </a:r>
            <a:endParaRPr/>
          </a:p>
          <a:p xmlns:a="http://schemas.openxmlformats.org/drawingml/2006/main">
            <a:pPr marL="0" lvl="0" indent="0" algn="l">
              <a:spcBef>
                <a:spcPts val="0"/>
              </a:spcBef>
              <a:spcAft>
                <a:spcPts val="0"/>
              </a:spcAft>
              <a:buNone/>
            </a:pPr>
            <a:r>
              <a:t>Source: user-supplied observation lesson plan and Cheesestick Labs design notes. Fictional classroom examples adapted from supplied rough lab.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Point to World Atlas in the lab. Ask which feature makes the task easier and why. A photograph alone does not establish purpose.</a:t>
            </a:r>
            <a:endParaRPr/>
          </a:p>
          <a:p xmlns:a="http://schemas.openxmlformats.org/drawingml/2006/main">
            <a:pPr marL="0" lvl="0" indent="0" algn="l">
              <a:spcBef>
                <a:spcPts val="0"/>
              </a:spcBef>
              <a:spcAft>
                <a:spcPts val="0"/>
              </a:spcAft>
              <a:buNone/>
            </a:pPr>
            <a:r>
              <a:t>Source: user-supplied observation lesson plan and Cheesestick Labs design notes. Fictional classroom examples adapted from supplied rough lab.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Worked example from World Atlas. Point to Topics, Maps, and Articles. The menu groups information by subject, so visitors can move toward a question they want answered. Then show Highlight in the lab and model a numbered comment that explains this connection.</a:t>
            </a:r>
            <a:endParaRPr/>
          </a:p>
          <a:p xmlns:a="http://schemas.openxmlformats.org/drawingml/2006/main">
            <a:pPr marL="0" lvl="0" indent="0" algn="l">
              <a:spcBef>
                <a:spcPts val="0"/>
              </a:spcBef>
              <a:spcAft>
                <a:spcPts val="0"/>
              </a:spcAft>
              <a:buNone/>
            </a:pPr>
            <a:r>
              <a:t>Source: user-supplied observation lesson plan and Cheesestick Labs design notes. Fictional classroom examples adapted from supplied rough lab.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Students complete the quick definition check and one evidence explanation. Ask 1–2 students to name an annotation and explain the connection.</a:t>
            </a:r>
            <a:endParaRPr/>
          </a:p>
          <a:p xmlns:a="http://schemas.openxmlformats.org/drawingml/2006/main">
            <a:pPr marL="0" lvl="0" indent="0" algn="l">
              <a:spcBef>
                <a:spcPts val="0"/>
              </a:spcBef>
              <a:spcAft>
                <a:spcPts val="0"/>
              </a:spcAft>
              <a:buNone/>
            </a:pPr>
            <a:r>
              <a:t>Source: user-supplied observation lesson plan and Cheesestick Labs design notes. Fictional classroom examples adapted from supplied rough lab.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Answer: 1917. Opens Entertainment and prior pages.</a:t>
            </a:r>
            <a:endParaRPr/>
          </a:p>
          <a:p xmlns:a="http://schemas.openxmlformats.org/drawingml/2006/main">
            <a:pPr marL="0" lvl="0" indent="0" algn="l">
              <a:spcBef>
                <a:spcPts val="0"/>
              </a:spcBef>
              <a:spcAft>
                <a:spcPts val="0"/>
              </a:spcAft>
              <a:buNone/>
            </a:pPr>
            <a:r>
              <a:t>Source: user-supplied observation lesson plan and Cheesestick Labs design notes. Fictional classroom examples adapted from supplied rough lab.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Guided cycle 2, minutes 14–19. Two minutes teach, two minutes work, one minute share.</a:t>
            </a:r>
            <a:endParaRPr/>
          </a:p>
          <a:p xmlns:a="http://schemas.openxmlformats.org/drawingml/2006/main">
            <a:pPr marL="0" lvl="0" indent="0" algn="l">
              <a:spcBef>
                <a:spcPts val="0"/>
              </a:spcBef>
              <a:spcAft>
                <a:spcPts val="0"/>
              </a:spcAft>
              <a:buNone/>
            </a:pPr>
            <a:r>
              <a:t>Source: user-supplied observation lesson plan and Cheesestick Labs design notes. Fictional classroom examples adapted from supplied rough lab.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Worked example from ClipStream. Ask what the preview and title help a visitor decide. Then explain how presenting another appealing video can encourage continued viewing. Model Connect between two features and explain their relationship. Captions support access to the experience.</a:t>
            </a:r>
            <a:endParaRPr/>
          </a:p>
          <a:p xmlns:a="http://schemas.openxmlformats.org/drawingml/2006/main">
            <a:pPr marL="0" lvl="0" indent="0" algn="l">
              <a:spcBef>
                <a:spcPts val="0"/>
              </a:spcBef>
              <a:spcAft>
                <a:spcPts val="0"/>
              </a:spcAft>
              <a:buNone/>
            </a:pPr>
            <a:r>
              <a:t>Source: user-supplied observation lesson plan and Cheesestick Labs design notes. Fictional classroom examples adapted from supplied rough lab.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Students use Connect to link a video preview to another feature that encourages further viewing. Two clicks or a drag place the red string. Add a CSSA category and comment explaining the connection. Every annotation creates a draggable numbered pin linked to its comment card. Listen for reasoning beyond “it is entertaining.”</a:t>
            </a:r>
            <a:endParaRPr/>
          </a:p>
          <a:p xmlns:a="http://schemas.openxmlformats.org/drawingml/2006/main">
            <a:pPr marL="0" lvl="0" indent="0" algn="l">
              <a:spcBef>
                <a:spcPts val="0"/>
              </a:spcBef>
              <a:spcAft>
                <a:spcPts val="0"/>
              </a:spcAft>
              <a:buNone/>
            </a:pPr>
            <a:r>
              <a:t>Source: user-supplied observation lesson plan and Cheesestick Labs design notes. Fictional classroom examples adapted from supplied rough lab.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Answer: 1984. Opens Sales and prior pages.</a:t>
            </a:r>
            <a:endParaRPr/>
          </a:p>
          <a:p xmlns:a="http://schemas.openxmlformats.org/drawingml/2006/main">
            <a:pPr marL="0" lvl="0" indent="0" algn="l">
              <a:spcBef>
                <a:spcPts val="0"/>
              </a:spcBef>
              <a:spcAft>
                <a:spcPts val="0"/>
              </a:spcAft>
              <a:buNone/>
            </a:pPr>
            <a:r>
              <a:t>Source: user-supplied observation lesson plan and Cheesestick Labs design notes. Fictional classroom examples adapted from supplied rough lab.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Guided cycle 3, minutes 19–24. Two minutes teach, two minutes work, one minute share.</a:t>
            </a:r>
            <a:endParaRPr/>
          </a:p>
          <a:p xmlns:a="http://schemas.openxmlformats.org/drawingml/2006/main">
            <a:pPr marL="0" lvl="0" indent="0" algn="l">
              <a:spcBef>
                <a:spcPts val="0"/>
              </a:spcBef>
              <a:spcAft>
                <a:spcPts val="0"/>
              </a:spcAft>
              <a:buNone/>
            </a:pPr>
            <a:r>
              <a:t>Source: user-supplied observation lesson plan and Cheesestick Labs design notes. Fictional classroom examples adapted from supplied rough lab.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Worked example from ShopSpace. The price and review count help a customer evaluate the product. The nearby purchase button supplies the next step. Model an Arrow pointing to the feature and connect the design choice to sales.</a:t>
            </a:r>
            <a:endParaRPr/>
          </a:p>
          <a:p xmlns:a="http://schemas.openxmlformats.org/drawingml/2006/main">
            <a:pPr marL="0" lvl="0" indent="0" algn="l">
              <a:spcBef>
                <a:spcPts val="0"/>
              </a:spcBef>
              <a:spcAft>
                <a:spcPts val="0"/>
              </a:spcAft>
              <a:buNone/>
            </a:pPr>
            <a:r>
              <a:t>Source: user-supplied observation lesson plan and Cheesestick Labs design notes. Fictional classroom examples adapted from supplied rough lab.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Students use Arrow: click the tail, then the tip, or click and drag. A numbered pin and linked comment appear. Add a CSSA category and explain how the feature supports sales. Drag the pin to reposition the arrow tip. A secondary purpose introduction fits the final minute.</a:t>
            </a:r>
            <a:endParaRPr/>
          </a:p>
          <a:p xmlns:a="http://schemas.openxmlformats.org/drawingml/2006/main">
            <a:pPr marL="0" lvl="0" indent="0" algn="l">
              <a:spcBef>
                <a:spcPts val="0"/>
              </a:spcBef>
              <a:spcAft>
                <a:spcPts val="0"/>
              </a:spcAft>
              <a:buNone/>
            </a:pPr>
            <a:r>
              <a:t>Source: user-supplied observation lesson plan and Cheesestick Labs design notes. Fictional classroom examples adapted from supplied rough lab.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Primary purpose is the main goal supported by the strongest pattern of evidence. A secondary purpose needs evidence too.</a:t>
            </a:r>
            <a:endParaRPr/>
          </a:p>
          <a:p xmlns:a="http://schemas.openxmlformats.org/drawingml/2006/main">
            <a:pPr marL="0" lvl="0" indent="0" algn="l">
              <a:spcBef>
                <a:spcPts val="0"/>
              </a:spcBef>
              <a:spcAft>
                <a:spcPts val="0"/>
              </a:spcAft>
              <a:buNone/>
            </a:pPr>
            <a:r>
              <a:t>Source: user-supplied observation lesson plan and Cheesestick Labs design notes. Fictional classroom examples adapted from supplied rough lab.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Weigh the whole site rather than counting one button. A site selling a subscription can still primarily provide entertainment.</a:t>
            </a:r>
            <a:endParaRPr/>
          </a:p>
          <a:p xmlns:a="http://schemas.openxmlformats.org/drawingml/2006/main">
            <a:pPr marL="0" lvl="0" indent="0" algn="l">
              <a:spcBef>
                <a:spcPts val="0"/>
              </a:spcBef>
              <a:spcAft>
                <a:spcPts val="0"/>
              </a:spcAft>
              <a:buNone/>
            </a:pPr>
            <a:r>
              <a:t>Source: user-supplied observation lesson plan and Cheesestick Labs design notes. Fictional classroom examples adapted from supplied rough lab.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Brief clarification. Keep the guided block at 15 minutes total.</a:t>
            </a:r>
            <a:endParaRPr/>
          </a:p>
          <a:p xmlns:a="http://schemas.openxmlformats.org/drawingml/2006/main">
            <a:pPr marL="0" lvl="0" indent="0" algn="l">
              <a:spcBef>
                <a:spcPts val="0"/>
              </a:spcBef>
              <a:spcAft>
                <a:spcPts val="0"/>
              </a:spcAft>
              <a:buNone/>
            </a:pPr>
            <a:r>
              <a:t>Source: user-supplied observation lesson plan and Cheesestick Labs design notes. Fictional classroom examples adapted from supplied rough lab.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Answer: 42. Opens Investigate and prior pages.</a:t>
            </a:r>
            <a:endParaRPr/>
          </a:p>
          <a:p xmlns:a="http://schemas.openxmlformats.org/drawingml/2006/main">
            <a:pPr marL="0" lvl="0" indent="0" algn="l">
              <a:spcBef>
                <a:spcPts val="0"/>
              </a:spcBef>
              <a:spcAft>
                <a:spcPts val="0"/>
              </a:spcAft>
              <a:buNone/>
            </a:pPr>
            <a:r>
              <a:t>Source: user-supplied observation lesson plan and Cheesestick Labs design notes. Fictional classroom examples adapted from supplied rough lab.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24–39 min. Lab page 6. Assign six sites by table. The current investigation sites remain fictional placeholders until real-site references are supplied. Table reasoning, individual annotations and written answers. Directions remain in lab.</a:t>
            </a:r>
            <a:endParaRPr/>
          </a:p>
          <a:p xmlns:a="http://schemas.openxmlformats.org/drawingml/2006/main">
            <a:pPr marL="0" lvl="0" indent="0" algn="l">
              <a:spcBef>
                <a:spcPts val="0"/>
              </a:spcBef>
              <a:spcAft>
                <a:spcPts val="0"/>
              </a:spcAft>
              <a:buNone/>
            </a:pPr>
            <a:r>
              <a:t>Source: user-supplied observation lesson plan and Cheesestick Labs design notes. Fictional classroom examples adapted from supplied rough lab.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Let students improve the weak claim. Example: Annotation #4 shows a price and purchase button (Content/Structure), helping customers evaluate a product and buy it. Do not demand identical wording.</a:t>
            </a:r>
            <a:endParaRPr/>
          </a:p>
          <a:p xmlns:a="http://schemas.openxmlformats.org/drawingml/2006/main">
            <a:pPr marL="0" lvl="0" indent="0" algn="l">
              <a:spcBef>
                <a:spcPts val="0"/>
              </a:spcBef>
              <a:spcAft>
                <a:spcPts val="0"/>
              </a:spcAft>
              <a:buNone/>
            </a:pPr>
            <a:r>
              <a:t>Source: user-supplied observation lesson plan and Cheesestick Labs design notes. Fictional classroom examples adapted from supplied rough lab.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 model of a specific explanation, not an answer to copy. Students discuss the primary purpose, annotate one example for each CSSA category on their own page, and answer questions 1–2. Then read the separate red box: independently add evidence for a possible secondary purpose and answer question 3.</a:t>
            </a:r>
            <a:endParaRPr/>
          </a:p>
          <a:p xmlns:a="http://schemas.openxmlformats.org/drawingml/2006/main">
            <a:pPr marL="0" lvl="0" indent="0" algn="l">
              <a:spcBef>
                <a:spcPts val="0"/>
              </a:spcBef>
              <a:spcAft>
                <a:spcPts val="0"/>
              </a:spcAft>
              <a:buNone/>
            </a:pPr>
            <a:r>
              <a:t>Source: user-supplied observation lesson plan and Cheesestick Labs design notes. Fictional classroom examples adapted from supplied rough lab.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Answer: 300. Opens Discuss (page 7) and prior pages.</a:t>
            </a:r>
            <a:endParaRPr/>
          </a:p>
          <a:p xmlns:a="http://schemas.openxmlformats.org/drawingml/2006/main">
            <a:pPr marL="0" lvl="0" indent="0" algn="l">
              <a:spcBef>
                <a:spcPts val="0"/>
              </a:spcBef>
              <a:spcAft>
                <a:spcPts val="0"/>
              </a:spcAft>
              <a:buNone/>
            </a:pPr>
            <a:r>
              <a:t>Source: user-supplied observation lesson plan and Cheesestick Labs design notes. Fictional classroom examples adapted from supplied rough lab.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Page 7: Discuss. The 300 checkpoint opens this page. Tables share their strongest annotation. Everyone can open the matching clean site in the discussion gallery to follow along. Student annotations remain on their own investigation page.</a:t>
            </a:r>
            <a:endParaRPr/>
          </a:p>
          <a:p xmlns:a="http://schemas.openxmlformats.org/drawingml/2006/main">
            <a:pPr marL="0" lvl="0" indent="0" algn="l">
              <a:spcBef>
                <a:spcPts val="0"/>
              </a:spcBef>
              <a:spcAft>
                <a:spcPts val="0"/>
              </a:spcAft>
              <a:buNone/>
            </a:pPr>
            <a:r>
              <a:t>Source: user-supplied observation lesson plan and Cheesestick Labs design notes. Fictional classroom examples adapted from supplied rough lab.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Answer: pi. Accept π, 3.14, or 3,14. Opens Big Idea, Exit Ticket, and Submit together.</a:t>
            </a:r>
            <a:endParaRPr/>
          </a:p>
          <a:p xmlns:a="http://schemas.openxmlformats.org/drawingml/2006/main">
            <a:pPr marL="0" lvl="0" indent="0" algn="l">
              <a:spcBef>
                <a:spcPts val="0"/>
              </a:spcBef>
              <a:spcAft>
                <a:spcPts val="0"/>
              </a:spcAft>
              <a:buNone/>
            </a:pPr>
            <a:r>
              <a:t>Source: user-supplied observation lesson plan and Cheesestick Labs design notes. Fictional classroom examples adapted from supplied rough lab.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CSSA tells us what goes into designing a website. Purpose tells us why designers make those choices. Page 8 includes the central statement and one sales example for each CSSA category. There is no written transfer question on this page.</a:t>
            </a:r>
            <a:endParaRPr/>
          </a:p>
          <a:p xmlns:a="http://schemas.openxmlformats.org/drawingml/2006/main">
            <a:pPr marL="0" lvl="0" indent="0" algn="l">
              <a:spcBef>
                <a:spcPts val="0"/>
              </a:spcBef>
              <a:spcAft>
                <a:spcPts val="0"/>
              </a:spcAft>
              <a:buNone/>
            </a:pPr>
            <a:r>
              <a:t>Source: user-supplied observation lesson plan and Cheesestick Labs design notes. Fictional classroom examples adapted from supplied rough lab.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This context now appears on Exit Ticket page 9. Explain the broad idea without answering the independent Wikipedia/Amazon comparison for students.</a:t>
            </a:r>
            <a:endParaRPr/>
          </a:p>
          <a:p xmlns:a="http://schemas.openxmlformats.org/drawingml/2006/main">
            <a:pPr marL="0" lvl="0" indent="0" algn="l">
              <a:spcBef>
                <a:spcPts val="0"/>
              </a:spcBef>
              <a:spcAft>
                <a:spcPts val="0"/>
              </a:spcAft>
              <a:buNone/>
            </a:pPr>
            <a:r>
              <a:t>Source: user-supplied observation lesson plan and Cheesestick Labs design notes. Fictional classroom examples adapted from supplied rough lab.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Accessibility supports the visitor’s task across all purposes. A site does not become accessible just by listing one feature.</a:t>
            </a:r>
            <a:endParaRPr/>
          </a:p>
          <a:p xmlns:a="http://schemas.openxmlformats.org/drawingml/2006/main">
            <a:pPr marL="0" lvl="0" indent="0" algn="l">
              <a:spcBef>
                <a:spcPts val="0"/>
              </a:spcBef>
              <a:spcAft>
                <a:spcPts val="0"/>
              </a:spcAft>
              <a:buNone/>
            </a:pPr>
            <a:r>
              <a:t>Source: user-supplied observation lesson plan and Cheesestick Labs design notes. Fictional classroom examples adapted from supplied rough lab.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48–51 min. Independent response. Look for Wikipedia: information/find articles and knowledge. Amazon: sales/find and compare products to purchase. Full explanation connects the feature to both goals.</a:t>
            </a:r>
            <a:endParaRPr/>
          </a:p>
          <a:p xmlns:a="http://schemas.openxmlformats.org/drawingml/2006/main">
            <a:pPr marL="0" lvl="0" indent="0" algn="l">
              <a:spcBef>
                <a:spcPts val="0"/>
              </a:spcBef>
              <a:spcAft>
                <a:spcPts val="0"/>
              </a:spcAft>
              <a:buNone/>
            </a:pPr>
            <a:r>
              <a:t>Source: user-supplied observation lesson plan and Cheesestick Labs design notes. Fictional classroom examples adapted from supplied rough lab.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Local autosave preserves the browser draft. No backend is configured. Do not claim automatic or online submission. Download includes responses and numbered annotation comments. Remaining 9 min in a 60-minute period support transitions and delays.</a:t>
            </a:r>
            <a:endParaRPr/>
          </a:p>
          <a:p xmlns:a="http://schemas.openxmlformats.org/drawingml/2006/main">
            <a:pPr marL="0" lvl="0" indent="0" algn="l">
              <a:spcBef>
                <a:spcPts val="0"/>
              </a:spcBef>
              <a:spcAft>
                <a:spcPts val="0"/>
              </a:spcAft>
              <a:buNone/>
            </a:pPr>
            <a:r>
              <a:t>Source: user-supplied observation lesson plan and Cheesestick Labs design notes. Fictional classroom examples adapted from supplied rough lab.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cd3f80a627f48e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6c6b80992c5452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513aa74fdb9475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31766d7d4904ba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73d00a6900d49c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28b15e9c83f4c3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9dfe3c8043a4fe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0bf06144ef5e4263"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0ebb50035a54cdc"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efa88c809ddb464e"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8d58e2e413af4500"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2c1b0795baf64eaf"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889ABEE4-4FCC-4E59-9606-C9374BED43C8}"/>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11" name="Google Shape;11;p2">
            <a:extLst xmlns:a="http://schemas.openxmlformats.org/drawingml/2006/main">
              <a:ext uri="{FF2B5EF4-FFF2-40B4-BE49-F238E27FC236}">
                <a16:creationId xmlns:a16="http://schemas.microsoft.com/office/drawing/2014/main" id="{EF197869-7282-4A77-9FF6-662AAFE3C69C}"/>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A1D97DA2-C076-4288-AE81-D52290A66AA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3">
            <a:extLst xmlns:a="http://schemas.openxmlformats.org/drawingml/2006/main">
              <a:ext uri="{FF2B5EF4-FFF2-40B4-BE49-F238E27FC236}">
                <a16:creationId xmlns:a16="http://schemas.microsoft.com/office/drawing/2014/main" id="{06BABBFE-FF79-4E0A-8FD3-B24D2188D049}"/>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15" name="Google Shape;15;p3">
            <a:extLst xmlns:a="http://schemas.openxmlformats.org/drawingml/2006/main">
              <a:ext uri="{FF2B5EF4-FFF2-40B4-BE49-F238E27FC236}">
                <a16:creationId xmlns:a16="http://schemas.microsoft.com/office/drawing/2014/main" id="{B8CCD1A6-75BB-4E0C-95C4-74135FFD310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7" name="Google Shape;17;p4">
            <a:extLst xmlns:a="http://schemas.openxmlformats.org/drawingml/2006/main">
              <a:ext uri="{FF2B5EF4-FFF2-40B4-BE49-F238E27FC236}">
                <a16:creationId xmlns:a16="http://schemas.microsoft.com/office/drawing/2014/main" id="{3851BB97-827A-4AEE-8F2E-84E6383AE701}"/>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18" name="Google Shape;18;p4">
            <a:extLst xmlns:a="http://schemas.openxmlformats.org/drawingml/2006/main">
              <a:ext uri="{FF2B5EF4-FFF2-40B4-BE49-F238E27FC236}">
                <a16:creationId xmlns:a16="http://schemas.microsoft.com/office/drawing/2014/main" id="{0DFE27B1-2181-4E03-8325-13DC6B2FBD4C}"/>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19" name="Google Shape;19;p4">
            <a:extLst xmlns:a="http://schemas.openxmlformats.org/drawingml/2006/main">
              <a:ext uri="{FF2B5EF4-FFF2-40B4-BE49-F238E27FC236}">
                <a16:creationId xmlns:a16="http://schemas.microsoft.com/office/drawing/2014/main" id="{0486F245-1D66-4CC4-9D77-03E795068FF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5">
            <a:extLst xmlns:a="http://schemas.openxmlformats.org/drawingml/2006/main">
              <a:ext uri="{FF2B5EF4-FFF2-40B4-BE49-F238E27FC236}">
                <a16:creationId xmlns:a16="http://schemas.microsoft.com/office/drawing/2014/main" id="{05EABCA2-9960-41B2-85C5-80229C72CF24}"/>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2" name="Google Shape;22;p5">
            <a:extLst xmlns:a="http://schemas.openxmlformats.org/drawingml/2006/main">
              <a:ext uri="{FF2B5EF4-FFF2-40B4-BE49-F238E27FC236}">
                <a16:creationId xmlns:a16="http://schemas.microsoft.com/office/drawing/2014/main" id="{B9642C8C-55C6-4145-AAA2-BD2EC7A5942C}"/>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3" name="Google Shape;23;p5">
            <a:extLst xmlns:a="http://schemas.openxmlformats.org/drawingml/2006/main">
              <a:ext uri="{FF2B5EF4-FFF2-40B4-BE49-F238E27FC236}">
                <a16:creationId xmlns:a16="http://schemas.microsoft.com/office/drawing/2014/main" id="{A6ECCDBF-FBEB-4E9A-B9A6-932EB069B7BF}"/>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4" name="Google Shape;24;p5">
            <a:extLst xmlns:a="http://schemas.openxmlformats.org/drawingml/2006/main">
              <a:ext uri="{FF2B5EF4-FFF2-40B4-BE49-F238E27FC236}">
                <a16:creationId xmlns:a16="http://schemas.microsoft.com/office/drawing/2014/main" id="{BAC0E9CC-624E-451B-9746-86EFEBB7866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6">
            <a:extLst xmlns:a="http://schemas.openxmlformats.org/drawingml/2006/main">
              <a:ext uri="{FF2B5EF4-FFF2-40B4-BE49-F238E27FC236}">
                <a16:creationId xmlns:a16="http://schemas.microsoft.com/office/drawing/2014/main" id="{B39FFCAE-9A42-4370-9005-D063850D6777}"/>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7" name="Google Shape;27;p6">
            <a:extLst xmlns:a="http://schemas.openxmlformats.org/drawingml/2006/main">
              <a:ext uri="{FF2B5EF4-FFF2-40B4-BE49-F238E27FC236}">
                <a16:creationId xmlns:a16="http://schemas.microsoft.com/office/drawing/2014/main" id="{986B9CE3-A4EF-4E9C-849A-1E338DA76EE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7">
            <a:extLst xmlns:a="http://schemas.openxmlformats.org/drawingml/2006/main">
              <a:ext uri="{FF2B5EF4-FFF2-40B4-BE49-F238E27FC236}">
                <a16:creationId xmlns:a16="http://schemas.microsoft.com/office/drawing/2014/main" id="{89BD3976-F408-402F-954E-FA6DAD39ACDF}"/>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p:txBody>
      </p:sp>
      <p:sp>
        <p:nvSpPr>
          <p:cNvPr id="30" name="Google Shape;30;p7">
            <a:extLst xmlns:a="http://schemas.openxmlformats.org/drawingml/2006/main">
              <a:ext uri="{FF2B5EF4-FFF2-40B4-BE49-F238E27FC236}">
                <a16:creationId xmlns:a16="http://schemas.microsoft.com/office/drawing/2014/main" id="{00FB8409-08B2-4421-8871-79E14CBA9920}"/>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31" name="Google Shape;31;p7">
            <a:extLst xmlns:a="http://schemas.openxmlformats.org/drawingml/2006/main">
              <a:ext uri="{FF2B5EF4-FFF2-40B4-BE49-F238E27FC236}">
                <a16:creationId xmlns:a16="http://schemas.microsoft.com/office/drawing/2014/main" id="{5C4293E8-D5EC-4C87-AECB-A725BD4DED7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8">
            <a:extLst xmlns:a="http://schemas.openxmlformats.org/drawingml/2006/main">
              <a:ext uri="{FF2B5EF4-FFF2-40B4-BE49-F238E27FC236}">
                <a16:creationId xmlns:a16="http://schemas.microsoft.com/office/drawing/2014/main" id="{929628D8-D39F-45E5-9977-31D74994BC31}"/>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p:txBody>
      </p:sp>
      <p:sp>
        <p:nvSpPr>
          <p:cNvPr id="34" name="Google Shape;34;p8">
            <a:extLst xmlns:a="http://schemas.openxmlformats.org/drawingml/2006/main">
              <a:ext uri="{FF2B5EF4-FFF2-40B4-BE49-F238E27FC236}">
                <a16:creationId xmlns:a16="http://schemas.microsoft.com/office/drawing/2014/main" id="{C928C8F5-91A6-449D-ACB6-DF13D30650E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9">
            <a:extLst xmlns:a="http://schemas.openxmlformats.org/drawingml/2006/main">
              <a:ext uri="{FF2B5EF4-FFF2-40B4-BE49-F238E27FC236}">
                <a16:creationId xmlns:a16="http://schemas.microsoft.com/office/drawing/2014/main" id="{0A8CEDCA-D5D8-44B0-9557-E3C0D150F42E}"/>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 name="Google Shape;37;p9">
            <a:extLst xmlns:a="http://schemas.openxmlformats.org/drawingml/2006/main">
              <a:ext uri="{FF2B5EF4-FFF2-40B4-BE49-F238E27FC236}">
                <a16:creationId xmlns:a16="http://schemas.microsoft.com/office/drawing/2014/main" id="{D6EAC515-C5F5-4889-B5B0-80C7134B6D98}"/>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p:txBody>
      </p:sp>
      <p:sp>
        <p:nvSpPr>
          <p:cNvPr id="38" name="Google Shape;38;p9">
            <a:extLst xmlns:a="http://schemas.openxmlformats.org/drawingml/2006/main">
              <a:ext uri="{FF2B5EF4-FFF2-40B4-BE49-F238E27FC236}">
                <a16:creationId xmlns:a16="http://schemas.microsoft.com/office/drawing/2014/main" id="{CC784B88-B3E7-4B26-A79D-2A3FDE10C848}"/>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39" name="Google Shape;39;p9">
            <a:extLst xmlns:a="http://schemas.openxmlformats.org/drawingml/2006/main">
              <a:ext uri="{FF2B5EF4-FFF2-40B4-BE49-F238E27FC236}">
                <a16:creationId xmlns:a16="http://schemas.microsoft.com/office/drawing/2014/main" id="{86328046-A294-4295-B311-28DB1E4CBD5D}"/>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40" name="Google Shape;40;p9">
            <a:extLst xmlns:a="http://schemas.openxmlformats.org/drawingml/2006/main">
              <a:ext uri="{FF2B5EF4-FFF2-40B4-BE49-F238E27FC236}">
                <a16:creationId xmlns:a16="http://schemas.microsoft.com/office/drawing/2014/main" id="{9F035582-F48F-48DA-A2C8-CC7EE5A85786}"/>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10">
            <a:extLst xmlns:a="http://schemas.openxmlformats.org/drawingml/2006/main">
              <a:ext uri="{FF2B5EF4-FFF2-40B4-BE49-F238E27FC236}">
                <a16:creationId xmlns:a16="http://schemas.microsoft.com/office/drawing/2014/main" id="{89F42308-3045-4635-9500-677550B72171}"/>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p:txBody>
      </p:sp>
      <p:sp>
        <p:nvSpPr>
          <p:cNvPr id="43" name="Google Shape;43;p10">
            <a:extLst xmlns:a="http://schemas.openxmlformats.org/drawingml/2006/main">
              <a:ext uri="{FF2B5EF4-FFF2-40B4-BE49-F238E27FC236}">
                <a16:creationId xmlns:a16="http://schemas.microsoft.com/office/drawing/2014/main" id="{FE1D3D15-9BDC-4266-9EE3-47D65A75998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5" name="Google Shape;45;p11">
            <a:extLst xmlns:a="http://schemas.openxmlformats.org/drawingml/2006/main">
              <a:ext uri="{FF2B5EF4-FFF2-40B4-BE49-F238E27FC236}">
                <a16:creationId xmlns:a16="http://schemas.microsoft.com/office/drawing/2014/main" id="{2040C1CE-ADB2-4B07-B110-C34D127F5045}"/>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46" name="Google Shape;46;p11">
            <a:extLst xmlns:a="http://schemas.openxmlformats.org/drawingml/2006/main">
              <a:ext uri="{FF2B5EF4-FFF2-40B4-BE49-F238E27FC236}">
                <a16:creationId xmlns:a16="http://schemas.microsoft.com/office/drawing/2014/main" id="{7BC3999F-606D-4AE4-95A1-95DD49F31149}"/>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xmlns:a="http://schemas.openxmlformats.org/drawingml/2006/main"/>
        </p:txBody>
      </p:sp>
      <p:sp>
        <p:nvSpPr>
          <p:cNvPr id="47" name="Google Shape;47;p11">
            <a:extLst xmlns:a="http://schemas.openxmlformats.org/drawingml/2006/main">
              <a:ext uri="{FF2B5EF4-FFF2-40B4-BE49-F238E27FC236}">
                <a16:creationId xmlns:a16="http://schemas.microsoft.com/office/drawing/2014/main" id="{2B6F8A85-0F51-4176-A30E-8F2BCF30129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9" name="Google Shape;49;p12">
            <a:extLst xmlns:a="http://schemas.openxmlformats.org/drawingml/2006/main">
              <a:ext uri="{FF2B5EF4-FFF2-40B4-BE49-F238E27FC236}">
                <a16:creationId xmlns:a16="http://schemas.microsoft.com/office/drawing/2014/main" id="{C8F8681F-4315-4DDE-AF05-5A84753317F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Title and text">
  <p:cSld name="CUSTOM_4">
    <p:spTree>
      <p:nvGrpSpPr>
        <p:cNvPr id="1" name=""/>
        <p:cNvGrpSpPr/>
        <p:nvPr/>
      </p:nvGrpSpPr>
      <p:grpSpPr>
        <a:xfrm xmlns:a="http://schemas.openxmlformats.org/drawingml/2006/main"/>
      </p:grpSpPr>
      <p:sp>
        <p:nvSpPr>
          <p:cNvPr id="51" name="Google Shape;51;p13">
            <a:extLst xmlns:a="http://schemas.openxmlformats.org/drawingml/2006/main">
              <a:ext uri="{FF2B5EF4-FFF2-40B4-BE49-F238E27FC236}">
                <a16:creationId xmlns:a16="http://schemas.microsoft.com/office/drawing/2014/main" id="{B0052C9C-CE9F-4ACE-BE5D-BB2838FD11BA}"/>
              </a:ext>
            </a:extLst>
          </p:cNvPr>
          <p:cNvSpPr>
            <a:spLocks xmlns:a="http://schemas.openxmlformats.org/drawingml/2006/main" noGrp="1"/>
          </p:cNvSpPr>
          <p:nvPr>
            <p:ph type="title" idx="0"/>
          </p:nvPr>
        </p:nvSpPr>
        <p:spPr>
          <a:xfrm xmlns:a="http://schemas.openxmlformats.org/drawingml/2006/main">
            <a:off x="228600" y="888300"/>
            <a:ext cx="7496100" cy="15078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52" name="Google Shape;52;p13">
            <a:extLst xmlns:a="http://schemas.openxmlformats.org/drawingml/2006/main">
              <a:ext uri="{FF2B5EF4-FFF2-40B4-BE49-F238E27FC236}">
                <a16:creationId xmlns:a16="http://schemas.microsoft.com/office/drawing/2014/main" id="{6B042F82-F33A-4D8B-936F-8AAC1524B178}"/>
              </a:ext>
            </a:extLst>
          </p:cNvPr>
          <p:cNvSpPr>
            <a:spLocks xmlns:a="http://schemas.openxmlformats.org/drawingml/2006/main" noGrp="1"/>
          </p:cNvSpPr>
          <p:nvPr>
            <p:ph type="subTitle" idx="1"/>
          </p:nvPr>
        </p:nvSpPr>
        <p:spPr>
          <a:xfrm xmlns:a="http://schemas.openxmlformats.org/drawingml/2006/main">
            <a:off x="2528775" y="2624550"/>
            <a:ext cx="6387300" cy="16308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nSpc>
                <a:spcPct val="100000"/>
              </a:lnSpc>
              <a:spcBef>
                <a:spcPts val="0"/>
              </a:spcBef>
              <a:spcAft>
                <a:spcPts val="0"/>
              </a:spcAft>
              <a:buSzPts val="1400"/>
              <a:buChar char="●"/>
              <a:defRPr sz="1200"/>
            </a:lvl1pPr>
            <a:lvl2pPr algn="ctr">
              <a:lnSpc>
                <a:spcPct val="100000"/>
              </a:lnSpc>
              <a:spcBef>
                <a:spcPts val="0"/>
              </a:spcBef>
              <a:spcAft>
                <a:spcPts val="0"/>
              </a:spcAft>
              <a:buSzPts val="1400"/>
              <a:buChar char="○"/>
              <a:defRPr/>
            </a:lvl2pPr>
            <a:lvl3pPr algn="ctr">
              <a:lnSpc>
                <a:spcPct val="100000"/>
              </a:lnSpc>
              <a:spcBef>
                <a:spcPts val="0"/>
              </a:spcBef>
              <a:spcAft>
                <a:spcPts val="0"/>
              </a:spcAft>
              <a:buSzPts val="1400"/>
              <a:buChar char="■"/>
              <a:defRPr/>
            </a:lvl3pPr>
            <a:lvl4pPr algn="ctr">
              <a:lnSpc>
                <a:spcPct val="100000"/>
              </a:lnSpc>
              <a:spcBef>
                <a:spcPts val="0"/>
              </a:spcBef>
              <a:spcAft>
                <a:spcPts val="0"/>
              </a:spcAft>
              <a:buSzPts val="1400"/>
              <a:buChar char="●"/>
              <a:defRPr/>
            </a:lvl4pPr>
            <a:lvl5pPr algn="ctr">
              <a:lnSpc>
                <a:spcPct val="100000"/>
              </a:lnSpc>
              <a:spcBef>
                <a:spcPts val="0"/>
              </a:spcBef>
              <a:spcAft>
                <a:spcPts val="0"/>
              </a:spcAft>
              <a:buSzPts val="1400"/>
              <a:buChar char="○"/>
              <a:defRPr/>
            </a:lvl5pPr>
            <a:lvl6pPr algn="ctr">
              <a:lnSpc>
                <a:spcPct val="100000"/>
              </a:lnSpc>
              <a:spcBef>
                <a:spcPts val="0"/>
              </a:spcBef>
              <a:spcAft>
                <a:spcPts val="0"/>
              </a:spcAft>
              <a:buSzPts val="1400"/>
              <a:buChar char="■"/>
              <a:defRPr/>
            </a:lvl6pPr>
            <a:lvl7pPr algn="ctr">
              <a:lnSpc>
                <a:spcPct val="100000"/>
              </a:lnSpc>
              <a:spcBef>
                <a:spcPts val="0"/>
              </a:spcBef>
              <a:spcAft>
                <a:spcPts val="0"/>
              </a:spcAft>
              <a:buSzPts val="1400"/>
              <a:buChar char="●"/>
              <a:defRPr/>
            </a:lvl7pPr>
            <a:lvl8pPr algn="ctr">
              <a:lnSpc>
                <a:spcPct val="100000"/>
              </a:lnSpc>
              <a:spcBef>
                <a:spcPts val="0"/>
              </a:spcBef>
              <a:spcAft>
                <a:spcPts val="0"/>
              </a:spcAft>
              <a:buSzPts val="1400"/>
              <a:buChar char="○"/>
              <a:defRPr/>
            </a:lvl8pPr>
            <a:lvl9pPr algn="ctr">
              <a:lnSpc>
                <a:spcPct val="100000"/>
              </a:lnSpc>
              <a:spcBef>
                <a:spcPts val="0"/>
              </a:spcBef>
              <a:spcAft>
                <a:spcPts val="0"/>
              </a:spcAft>
              <a:buSzPts val="1400"/>
              <a:buChar char="■"/>
              <a:defRPr/>
            </a:lvl9pPr>
          </a:lstStyle>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02ffed75b504030" /><Relationship Type="http://schemas.openxmlformats.org/officeDocument/2006/relationships/slideLayout" Target="/ppt/slideLayouts/slideLayout1.xml" Id="R183dd493351641bd" /><Relationship Type="http://schemas.openxmlformats.org/officeDocument/2006/relationships/slideLayout" Target="/ppt/slideLayouts/slideLayout2.xml" Id="R1195f4a242564e82" /><Relationship Type="http://schemas.openxmlformats.org/officeDocument/2006/relationships/slideLayout" Target="/ppt/slideLayouts/slideLayout3.xml" Id="R9869a12841134d93" /><Relationship Type="http://schemas.openxmlformats.org/officeDocument/2006/relationships/slideLayout" Target="/ppt/slideLayouts/slideLayout4.xml" Id="R4d558d2e90434790" /><Relationship Type="http://schemas.openxmlformats.org/officeDocument/2006/relationships/slideLayout" Target="/ppt/slideLayouts/slideLayout5.xml" Id="R9164083d869c4ca7" /><Relationship Type="http://schemas.openxmlformats.org/officeDocument/2006/relationships/slideLayout" Target="/ppt/slideLayouts/slideLayout6.xml" Id="R248d89f63ee94b28" /><Relationship Type="http://schemas.openxmlformats.org/officeDocument/2006/relationships/slideLayout" Target="/ppt/slideLayouts/slideLayout7.xml" Id="Rc0294452db7147dd" /><Relationship Type="http://schemas.openxmlformats.org/officeDocument/2006/relationships/slideLayout" Target="/ppt/slideLayouts/slideLayout8.xml" Id="Radca01c4586e4305" /><Relationship Type="http://schemas.openxmlformats.org/officeDocument/2006/relationships/slideLayout" Target="/ppt/slideLayouts/slideLayout9.xml" Id="R0a203b03d0e0415b" /><Relationship Type="http://schemas.openxmlformats.org/officeDocument/2006/relationships/slideLayout" Target="/ppt/slideLayouts/slideLayout10.xml" Id="R19f52afe37094b96" /><Relationship Type="http://schemas.openxmlformats.org/officeDocument/2006/relationships/slideLayout" Target="/ppt/slideLayouts/slideLayout11.xml" Id="R02a3ab4b6bb942bd" /><Relationship Type="http://schemas.openxmlformats.org/officeDocument/2006/relationships/slideLayout" Target="/ppt/slideLayouts/slideLayout12.xml" Id="R64039189f08845ad"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9CBCCB31-A206-4DA1-9036-48AA5E2CF48D}"/>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ED24393A-9FA0-407D-A598-24B12E710219}"/>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601106F7-D279-4347-BA2F-01C726BF059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183dd493351641bd"/>
    <p:sldLayoutId xmlns:r="http://schemas.openxmlformats.org/officeDocument/2006/relationships" id="2147483650" r:id="R1195f4a242564e82"/>
    <p:sldLayoutId xmlns:r="http://schemas.openxmlformats.org/officeDocument/2006/relationships" id="2147483651" r:id="R9869a12841134d93"/>
    <p:sldLayoutId xmlns:r="http://schemas.openxmlformats.org/officeDocument/2006/relationships" id="2147483652" r:id="R4d558d2e90434790"/>
    <p:sldLayoutId xmlns:r="http://schemas.openxmlformats.org/officeDocument/2006/relationships" id="2147483653" r:id="R9164083d869c4ca7"/>
    <p:sldLayoutId xmlns:r="http://schemas.openxmlformats.org/officeDocument/2006/relationships" id="2147483654" r:id="R248d89f63ee94b28"/>
    <p:sldLayoutId xmlns:r="http://schemas.openxmlformats.org/officeDocument/2006/relationships" id="2147483655" r:id="Rc0294452db7147dd"/>
    <p:sldLayoutId xmlns:r="http://schemas.openxmlformats.org/officeDocument/2006/relationships" id="2147483656" r:id="Radca01c4586e4305"/>
    <p:sldLayoutId xmlns:r="http://schemas.openxmlformats.org/officeDocument/2006/relationships" id="2147483657" r:id="R0a203b03d0e0415b"/>
    <p:sldLayoutId xmlns:r="http://schemas.openxmlformats.org/officeDocument/2006/relationships" id="2147483658" r:id="R19f52afe37094b96"/>
    <p:sldLayoutId xmlns:r="http://schemas.openxmlformats.org/officeDocument/2006/relationships" id="2147483659" r:id="R02a3ab4b6bb942bd"/>
    <p:sldLayoutId xmlns:r="http://schemas.openxmlformats.org/officeDocument/2006/relationships" id="2147483660" r:id="R64039189f08845ad"/>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2.xml" Id="R0db3d188d2d0409e" /><Relationship Type="http://schemas.openxmlformats.org/officeDocument/2006/relationships/image" Target="/ppt/media/image.png" Id="Rb7cbe3c1563b4758" /><Relationship Type="http://schemas.openxmlformats.org/officeDocument/2006/relationships/notesSlide" Target="/ppt/notesSlides/notesSlide1.xml" Id="R88c426ea45d74f0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2.xml" Id="R161637a002854fbc" /><Relationship Type="http://schemas.openxmlformats.org/officeDocument/2006/relationships/notesSlide" Target="/ppt/notesSlides/notesSlide2.xml" Id="R2b56051d7af34cf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2.xml" Id="R6ffd89ab7d784a07" /><Relationship Type="http://schemas.openxmlformats.org/officeDocument/2006/relationships/notesSlide" Target="/ppt/notesSlides/notesSlide3.xml" Id="R9face670c5b54dc7"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e399453ac2d14a8f" /><Relationship Type="http://schemas.openxmlformats.org/officeDocument/2006/relationships/notesSlide" Target="/ppt/notesSlides/notesSlide4.xml" Id="R7e4492b7bf7c434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2.xml" Id="Ra21cef98f8394dad" /><Relationship Type="http://schemas.openxmlformats.org/officeDocument/2006/relationships/notesSlide" Target="/ppt/notesSlides/notesSlide5.xml" Id="R4b094b38337549b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2.xml" Id="R80ecc59805404c28" /><Relationship Type="http://schemas.openxmlformats.org/officeDocument/2006/relationships/notesSlide" Target="/ppt/notesSlides/notesSlide6.xml" Id="R166235c03a37415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2.xml" Id="R0de1ce16461746f5" /><Relationship Type="http://schemas.openxmlformats.org/officeDocument/2006/relationships/notesSlide" Target="/ppt/notesSlides/notesSlide7.xml" Id="R87151217f48f45c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2.xml" Id="Rb64fccde9a624d12" /><Relationship Type="http://schemas.openxmlformats.org/officeDocument/2006/relationships/notesSlide" Target="/ppt/notesSlides/notesSlide8.xml" Id="R786632f66ef14e3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2.xml" Id="R1c0e99679e5148eb" /><Relationship Type="http://schemas.openxmlformats.org/officeDocument/2006/relationships/notesSlide" Target="/ppt/notesSlides/notesSlide9.xml" Id="R5b5135cdedf44eb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2.xml" Id="Rc981f5162f854652" /><Relationship Type="http://schemas.openxmlformats.org/officeDocument/2006/relationships/image" Target="/ppt/media/image2.png" Id="Rb1ab796bbbb3410f" /><Relationship Type="http://schemas.openxmlformats.org/officeDocument/2006/relationships/notesSlide" Target="/ppt/notesSlides/notesSlide10.xml" Id="Rf8defe36a94a4a8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2.xml" Id="Ra6afb6152f3a450f" /><Relationship Type="http://schemas.openxmlformats.org/officeDocument/2006/relationships/notesSlide" Target="/ppt/notesSlides/notesSlide11.xml" Id="R71d44f2ba6b84c1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2.xml" Id="R8a2755c8df1b4249" /><Relationship Type="http://schemas.openxmlformats.org/officeDocument/2006/relationships/notesSlide" Target="/ppt/notesSlides/notesSlide12.xml" Id="R71afbb997c794f4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2.xml" Id="Rc78581afc0664156" /><Relationship Type="http://schemas.openxmlformats.org/officeDocument/2006/relationships/notesSlide" Target="/ppt/notesSlides/notesSlide13.xml" Id="Rf34dd829a3a14a2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2.xml" Id="R8127014839e3423e" /><Relationship Type="http://schemas.openxmlformats.org/officeDocument/2006/relationships/image" Target="/ppt/media/image3.png" Id="R558ecfc730d643d1" /><Relationship Type="http://schemas.openxmlformats.org/officeDocument/2006/relationships/notesSlide" Target="/ppt/notesSlides/notesSlide14.xml" Id="R616e9ec59833496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2.xml" Id="R42e2c3a2d7534374" /><Relationship Type="http://schemas.openxmlformats.org/officeDocument/2006/relationships/notesSlide" Target="/ppt/notesSlides/notesSlide15.xml" Id="R0fbdeb2383e044a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834f6f588f1048a3" /><Relationship Type="http://schemas.openxmlformats.org/officeDocument/2006/relationships/notesSlide" Target="/ppt/notesSlides/notesSlide16.xml" Id="Rdf2ac8cafdb54c5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2.xml" Id="R183bf69310e64210" /><Relationship Type="http://schemas.openxmlformats.org/officeDocument/2006/relationships/notesSlide" Target="/ppt/notesSlides/notesSlide17.xml" Id="R3a7c3fe63f6b485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2.xml" Id="R7b6a89a71a3a4235" /><Relationship Type="http://schemas.openxmlformats.org/officeDocument/2006/relationships/image" Target="/ppt/media/image4.png" Id="Raebd173129954598" /><Relationship Type="http://schemas.openxmlformats.org/officeDocument/2006/relationships/notesSlide" Target="/ppt/notesSlides/notesSlide18.xml" Id="R8dec0443f9ed421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2.xml" Id="Rf89cd3bea0b54165" /><Relationship Type="http://schemas.openxmlformats.org/officeDocument/2006/relationships/notesSlide" Target="/ppt/notesSlides/notesSlide19.xml" Id="Re0bfd41d94dc452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2.xml" Id="Rf39a8223898c4ec0" /><Relationship Type="http://schemas.openxmlformats.org/officeDocument/2006/relationships/notesSlide" Target="/ppt/notesSlides/notesSlide20.xml" Id="Re99fcff81fa246e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2.xml" Id="Rc048f6b4ac0b48d5" /><Relationship Type="http://schemas.openxmlformats.org/officeDocument/2006/relationships/notesSlide" Target="/ppt/notesSlides/notesSlide21.xml" Id="Rabcb1ea91da2417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2.xml" Id="Rd1ef422559c54286" /><Relationship Type="http://schemas.openxmlformats.org/officeDocument/2006/relationships/notesSlide" Target="/ppt/notesSlides/notesSlide22.xml" Id="R171cc79f93414d5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2.xml" Id="Rf04a613d0fd042bd" /><Relationship Type="http://schemas.openxmlformats.org/officeDocument/2006/relationships/notesSlide" Target="/ppt/notesSlides/notesSlide23.xml" Id="Refeb8faca1024b8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2.xml" Id="R33f893e89a0444d8" /><Relationship Type="http://schemas.openxmlformats.org/officeDocument/2006/relationships/notesSlide" Target="/ppt/notesSlides/notesSlide24.xml" Id="R500e18498258454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2.xml" Id="R57a94231f26f4752" /><Relationship Type="http://schemas.openxmlformats.org/officeDocument/2006/relationships/notesSlide" Target="/ppt/notesSlides/notesSlide25.xml" Id="R8865cfcda92d4c5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2.xml" Id="R4fb2773771464329" /><Relationship Type="http://schemas.openxmlformats.org/officeDocument/2006/relationships/notesSlide" Target="/ppt/notesSlides/notesSlide26.xml" Id="Re90c971cc25c49b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2.xml" Id="R54161a476de046d1" /><Relationship Type="http://schemas.openxmlformats.org/officeDocument/2006/relationships/notesSlide" Target="/ppt/notesSlides/notesSlide27.xml" Id="R367ce5646a9542a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2.xml" Id="R4689e72c6ab648c6" /><Relationship Type="http://schemas.openxmlformats.org/officeDocument/2006/relationships/notesSlide" Target="/ppt/notesSlides/notesSlide28.xml" Id="Rcbef239a21b6410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2.xml" Id="Rfc8978975aee4546" /><Relationship Type="http://schemas.openxmlformats.org/officeDocument/2006/relationships/notesSlide" Target="/ppt/notesSlides/notesSlide29.xml" Id="R6ee285c71750489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64f247ad41404e39" /><Relationship Type="http://schemas.openxmlformats.org/officeDocument/2006/relationships/notesSlide" Target="/ppt/notesSlides/notesSlide30.xml" Id="R134ba5853ce0432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2.xml" Id="R7440c87281d24846" /><Relationship Type="http://schemas.openxmlformats.org/officeDocument/2006/relationships/notesSlide" Target="/ppt/notesSlides/notesSlide31.xml" Id="Rfcf7a423d05242a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2.xml" Id="Rc703b907ffdf4850" /><Relationship Type="http://schemas.openxmlformats.org/officeDocument/2006/relationships/notesSlide" Target="/ppt/notesSlides/notesSlide32.xml" Id="R0e344ccb0be74d8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2.xml" Id="Rc9299ef05e5a4fe6" /><Relationship Type="http://schemas.openxmlformats.org/officeDocument/2006/relationships/notesSlide" Target="/ppt/notesSlides/notesSlide33.xml" Id="R4309541a7589480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2.xml" Id="R986ab7eff0ea45a0" /><Relationship Type="http://schemas.openxmlformats.org/officeDocument/2006/relationships/notesSlide" Target="/ppt/notesSlides/notesSlide34.xml" Id="R9fd5a152aa21499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2179138-24E8-48A6-843D-F03966A2698E}"/>
              </a:ext>
            </a:extLst>
          </p:cNvPr>
          <p:cNvSpPr>
            <a:spLocks xmlns:a="http://schemas.openxmlformats.org/drawingml/2006/main" noGrp="1"/>
          </p:cNvSpPr>
          <p:nvPr/>
        </p:nvSpPr>
        <p:spPr>
          <a:xfrm xmlns:a="http://schemas.openxmlformats.org/drawingml/2006/main">
            <a:off x="228600" y="190500"/>
            <a:ext cx="868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800" b="1">
                <a:solidFill>
                  <a:srgbClr val="000000"/>
                </a:solidFill>
                <a:latin typeface="Lexend"/>
                <a:ea typeface="Lexend"/>
                <a:cs typeface="Lexend"/>
              </a:defRPr>
            </a:defPPr>
          </a:lstStyle>
          <a:p xmlns:a="http://schemas.openxmlformats.org/drawingml/2006/main">
            <a:pPr>
              <a:defRPr sz="4800" b="1">
                <a:solidFill>
                  <a:srgbClr val="000000"/>
                </a:solidFill>
                <a:latin typeface="Lexend"/>
                <a:ea typeface="Lexend"/>
                <a:cs typeface="Lexend"/>
              </a:defRPr>
            </a:pPr>
            <a:r>
              <a:rPr sz="4800" b="1">
                <a:solidFill>
                  <a:srgbClr val="000000"/>
                </a:solidFill>
                <a:latin typeface="Lexend"/>
                <a:ea typeface="Lexend"/>
                <a:cs typeface="Lexend"/>
              </a:rPr>
              <a:t>Do Now</a:t>
            </a:r>
          </a:p>
        </p:txBody>
      </p:sp>
      <p:sp>
        <p:nvSpPr>
          <p:cNvPr id="2" name="Worked explanation">
            <a:extLst xmlns:a="http://schemas.openxmlformats.org/drawingml/2006/main">
              <a:ext uri="{FF2B5EF4-FFF2-40B4-BE49-F238E27FC236}">
                <a16:creationId xmlns:a16="http://schemas.microsoft.com/office/drawing/2014/main" id="{FE04121C-A91D-457A-AD6B-7061F3D602F8}"/>
              </a:ext>
            </a:extLst>
          </p:cNvPr>
          <p:cNvSpPr>
            <a:spLocks xmlns:a="http://schemas.openxmlformats.org/drawingml/2006/main" noGrp="1"/>
          </p:cNvSpPr>
          <p:nvPr/>
        </p:nvSpPr>
        <p:spPr>
          <a:xfrm xmlns:a="http://schemas.openxmlformats.org/drawingml/2006/main">
            <a:off x="285750" y="1333500"/>
            <a:ext cx="3714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850" b="0">
                <a:solidFill>
                  <a:srgbClr val="000000"/>
                </a:solidFill>
                <a:latin typeface="Lexend"/>
                <a:ea typeface="Lexend"/>
                <a:cs typeface="Lexend"/>
              </a:defRPr>
            </a:defPPr>
          </a:lstStyle>
          <a:p xmlns:a="http://schemas.openxmlformats.org/drawingml/2006/main">
            <a:pPr>
              <a:defRPr sz="2850" b="0">
                <a:solidFill>
                  <a:srgbClr val="000000"/>
                </a:solidFill>
                <a:latin typeface="Lexend"/>
                <a:ea typeface="Lexend"/>
                <a:cs typeface="Lexend"/>
              </a:defRPr>
            </a:pPr>
            <a:r>
              <a:rPr sz="2850" b="0">
                <a:solidFill>
                  <a:srgbClr val="000000"/>
                </a:solidFill>
                <a:latin typeface="Lexend"/>
                <a:ea typeface="Lexend"/>
                <a:cs typeface="Lexend"/>
              </a:rPr>
              <a:t>CSSA review</a:t>
            </a:r>
          </a:p>
          <a:p xmlns:a="http://schemas.openxmlformats.org/drawingml/2006/main">
            <a:pPr>
              <a:defRPr sz="2850" b="0">
                <a:solidFill>
                  <a:srgbClr val="000000"/>
                </a:solidFill>
                <a:latin typeface="Lexend"/>
                <a:ea typeface="Lexend"/>
                <a:cs typeface="Lexend"/>
              </a:defRPr>
            </a:pPr>
            <a:r>
              <a:rPr sz="2850" b="0">
                <a:solidFill>
                  <a:srgbClr val="000000"/>
                </a:solidFill>
                <a:latin typeface="Lexend"/>
                <a:ea typeface="Lexend"/>
                <a:cs typeface="Lexend"/>
              </a:rPr>
              <a:t>Which design change helps a visitor most?</a:t>
            </a:r>
          </a:p>
        </p:txBody>
      </p:sp>
      <p:pic>
        <p:nvPicPr>
          <p:cNvPr id="3" name="">
            <a:extLst xmlns:a="http://schemas.openxmlformats.org/drawingml/2006/main">
              <a:ext uri="{FF2B5EF4-FFF2-40B4-BE49-F238E27FC236}">
                <a16:creationId xmlns:a16="http://schemas.microsoft.com/office/drawing/2014/main" id="{55B68691-8B11-4776-AF48-3F3348ADA120}"/>
              </a:ext>
            </a:extLst>
          </p:cNvPr>
          <p:cNvPicPr>
            <a:picLocks xmlns:a="http://schemas.openxmlformats.org/drawingml/2006/main" noChangeAspect="1"/>
          </p:cNvPicPr>
          <p:nvPr/>
        </p:nvPicPr>
        <p:blipFill>
          <a:blip xmlns:r="http://schemas.openxmlformats.org/officeDocument/2006/relationships" xmlns:a="http://schemas.openxmlformats.org/drawingml/2006/main" r:embed="Rb7cbe3c1563b4758"/>
          <a:stretch xmlns:a="http://schemas.openxmlformats.org/drawingml/2006/main"/>
        </p:blipFill>
        <p:spPr>
          <a:xfrm xmlns:a="http://schemas.openxmlformats.org/drawingml/2006/main">
            <a:off x="4286250" y="1323808"/>
            <a:ext cx="4572000" cy="3210259"/>
          </a:xfrm>
          <a:prstGeom xmlns:a="http://schemas.openxmlformats.org/drawingml/2006/main" prst="rect">
            <a:avLst/>
          </a:prstGeom>
        </p:spPr>
      </p:pic>
    </p:spTree>
    <p:extLst>
      <p:ext uri="{BB962C8B-B14F-4D97-AF65-F5344CB8AC3E}">
        <p14:creationId xmlns:p14="http://schemas.microsoft.com/office/powerpoint/2010/main" val="208420033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0C9B3C-4571-4ACE-9ADF-65C46B3B1B0E}"/>
              </a:ext>
            </a:extLst>
          </p:cNvPr>
          <p:cNvSpPr>
            <a:spLocks xmlns:a="http://schemas.openxmlformats.org/drawingml/2006/main" noGrp="1"/>
          </p:cNvSpPr>
          <p:nvPr/>
        </p:nvSpPr>
        <p:spPr>
          <a:xfrm xmlns:a="http://schemas.openxmlformats.org/drawingml/2006/main">
            <a:off x="228600" y="190500"/>
            <a:ext cx="868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800" b="1">
                <a:solidFill>
                  <a:srgbClr val="000000"/>
                </a:solidFill>
                <a:latin typeface="Lexend"/>
                <a:ea typeface="Lexend"/>
                <a:cs typeface="Lexend"/>
              </a:defRPr>
            </a:defPPr>
          </a:lstStyle>
          <a:p xmlns:a="http://schemas.openxmlformats.org/drawingml/2006/main">
            <a:pPr>
              <a:defRPr sz="4800" b="1">
                <a:solidFill>
                  <a:srgbClr val="000000"/>
                </a:solidFill>
                <a:latin typeface="Lexend"/>
                <a:ea typeface="Lexend"/>
                <a:cs typeface="Lexend"/>
              </a:defRPr>
            </a:pPr>
            <a:r>
              <a:rPr sz="4800" b="1">
                <a:solidFill>
                  <a:srgbClr val="000000"/>
                </a:solidFill>
                <a:latin typeface="Lexend"/>
                <a:ea typeface="Lexend"/>
                <a:cs typeface="Lexend"/>
              </a:rPr>
              <a:t>Why Websites Exist</a:t>
            </a:r>
          </a:p>
        </p:txBody>
      </p:sp>
      <p:sp>
        <p:nvSpPr>
          <p:cNvPr id="2" name="Lesson content">
            <a:extLst xmlns:a="http://schemas.openxmlformats.org/drawingml/2006/main">
              <a:ext uri="{FF2B5EF4-FFF2-40B4-BE49-F238E27FC236}">
                <a16:creationId xmlns:a16="http://schemas.microsoft.com/office/drawing/2014/main" id="{25CFFCCE-02C3-484D-841A-F43EBC93EB38}"/>
              </a:ext>
            </a:extLst>
          </p:cNvPr>
          <p:cNvSpPr>
            <a:spLocks xmlns:a="http://schemas.openxmlformats.org/drawingml/2006/main" noGrp="1"/>
          </p:cNvSpPr>
          <p:nvPr/>
        </p:nvSpPr>
        <p:spPr>
          <a:xfrm xmlns:a="http://schemas.openxmlformats.org/drawingml/2006/main">
            <a:off x="228600" y="1181100"/>
            <a:ext cx="8686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000" b="0">
                <a:solidFill>
                  <a:srgbClr val="000000"/>
                </a:solidFill>
                <a:latin typeface="Lexend"/>
                <a:ea typeface="Lexend"/>
                <a:cs typeface="Lexend"/>
              </a:defRPr>
            </a:defPPr>
          </a:lstStyle>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How Design Demonstrates Purpose</a:t>
            </a:r>
          </a:p>
        </p:txBody>
      </p:sp>
    </p:spTree>
    <p:extLst>
      <p:ext uri="{BB962C8B-B14F-4D97-AF65-F5344CB8AC3E}">
        <p14:creationId xmlns:p14="http://schemas.microsoft.com/office/powerpoint/2010/main" val="11005052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505F21-815F-4EB3-990F-C21262CF65F1}"/>
              </a:ext>
            </a:extLst>
          </p:cNvPr>
          <p:cNvSpPr>
            <a:spLocks xmlns:a="http://schemas.openxmlformats.org/drawingml/2006/main" noGrp="1"/>
          </p:cNvSpPr>
          <p:nvPr/>
        </p:nvSpPr>
        <p:spPr>
          <a:xfrm xmlns:a="http://schemas.openxmlformats.org/drawingml/2006/main">
            <a:off x="228600" y="190500"/>
            <a:ext cx="868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800" b="1">
                <a:solidFill>
                  <a:srgbClr val="000000"/>
                </a:solidFill>
                <a:latin typeface="Lexend"/>
                <a:ea typeface="Lexend"/>
                <a:cs typeface="Lexend"/>
              </a:defRPr>
            </a:defPPr>
          </a:lstStyle>
          <a:p xmlns:a="http://schemas.openxmlformats.org/drawingml/2006/main">
            <a:pPr>
              <a:defRPr sz="4800" b="1">
                <a:solidFill>
                  <a:srgbClr val="000000"/>
                </a:solidFill>
                <a:latin typeface="Lexend"/>
                <a:ea typeface="Lexend"/>
                <a:cs typeface="Lexend"/>
              </a:defRPr>
            </a:pPr>
            <a:r>
              <a:rPr sz="4800" b="1">
                <a:solidFill>
                  <a:srgbClr val="000000"/>
                </a:solidFill>
                <a:latin typeface="Lexend"/>
                <a:ea typeface="Lexend"/>
                <a:cs typeface="Lexend"/>
              </a:rPr>
              <a:t>Today’s goal</a:t>
            </a:r>
          </a:p>
        </p:txBody>
      </p:sp>
      <p:sp>
        <p:nvSpPr>
          <p:cNvPr id="2" name="Lesson content">
            <a:extLst xmlns:a="http://schemas.openxmlformats.org/drawingml/2006/main">
              <a:ext uri="{FF2B5EF4-FFF2-40B4-BE49-F238E27FC236}">
                <a16:creationId xmlns:a16="http://schemas.microsoft.com/office/drawing/2014/main" id="{A6892A54-6EC6-47F5-A389-52978836FB86}"/>
              </a:ext>
            </a:extLst>
          </p:cNvPr>
          <p:cNvSpPr>
            <a:spLocks xmlns:a="http://schemas.openxmlformats.org/drawingml/2006/main" noGrp="1"/>
          </p:cNvSpPr>
          <p:nvPr/>
        </p:nvSpPr>
        <p:spPr>
          <a:xfrm xmlns:a="http://schemas.openxmlformats.org/drawingml/2006/main">
            <a:off x="228600" y="1181100"/>
            <a:ext cx="8686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000" b="0">
                <a:solidFill>
                  <a:srgbClr val="000000"/>
                </a:solidFill>
                <a:latin typeface="Lexend"/>
                <a:ea typeface="Lexend"/>
                <a:cs typeface="Lexend"/>
              </a:defRPr>
            </a:defPPr>
          </a:lstStyle>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Identify a site’s primary purpose.</a:t>
            </a:r>
          </a:p>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Use a specific CSSA choice to explain how its design supports that purpose.</a:t>
            </a:r>
          </a:p>
        </p:txBody>
      </p:sp>
    </p:spTree>
    <p:extLst>
      <p:ext uri="{BB962C8B-B14F-4D97-AF65-F5344CB8AC3E}">
        <p14:creationId xmlns:p14="http://schemas.microsoft.com/office/powerpoint/2010/main" val="11005052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D118926-1B76-4FF5-96FC-596DC8EEC273}"/>
              </a:ext>
            </a:extLst>
          </p:cNvPr>
          <p:cNvSpPr>
            <a:spLocks xmlns:a="http://schemas.openxmlformats.org/drawingml/2006/main" noGrp="1"/>
          </p:cNvSpPr>
          <p:nvPr/>
        </p:nvSpPr>
        <p:spPr>
          <a:xfrm xmlns:a="http://schemas.openxmlformats.org/drawingml/2006/main">
            <a:off x="228600" y="190500"/>
            <a:ext cx="868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800" b="1">
                <a:solidFill>
                  <a:srgbClr val="000000"/>
                </a:solidFill>
                <a:latin typeface="Lexend"/>
                <a:ea typeface="Lexend"/>
                <a:cs typeface="Lexend"/>
              </a:defRPr>
            </a:defPPr>
          </a:lstStyle>
          <a:p xmlns:a="http://schemas.openxmlformats.org/drawingml/2006/main">
            <a:pPr>
              <a:defRPr sz="4800" b="1">
                <a:solidFill>
                  <a:srgbClr val="000000"/>
                </a:solidFill>
                <a:latin typeface="Lexend"/>
                <a:ea typeface="Lexend"/>
                <a:cs typeface="Lexend"/>
              </a:defRPr>
            </a:pPr>
            <a:r>
              <a:rPr sz="4800" b="1">
                <a:solidFill>
                  <a:srgbClr val="000000"/>
                </a:solidFill>
                <a:latin typeface="Lexend"/>
                <a:ea typeface="Lexend"/>
                <a:cs typeface="Lexend"/>
              </a:rPr>
              <a:t>CSSA review</a:t>
            </a:r>
          </a:p>
        </p:txBody>
      </p:sp>
      <p:sp>
        <p:nvSpPr>
          <p:cNvPr id="2" name="Lesson content">
            <a:extLst xmlns:a="http://schemas.openxmlformats.org/drawingml/2006/main">
              <a:ext uri="{FF2B5EF4-FFF2-40B4-BE49-F238E27FC236}">
                <a16:creationId xmlns:a16="http://schemas.microsoft.com/office/drawing/2014/main" id="{18D2185F-3C34-4C98-A4F1-D10EE70C47D8}"/>
              </a:ext>
            </a:extLst>
          </p:cNvPr>
          <p:cNvSpPr>
            <a:spLocks xmlns:a="http://schemas.openxmlformats.org/drawingml/2006/main" noGrp="1"/>
          </p:cNvSpPr>
          <p:nvPr/>
        </p:nvSpPr>
        <p:spPr>
          <a:xfrm xmlns:a="http://schemas.openxmlformats.org/drawingml/2006/main">
            <a:off x="228600" y="1181100"/>
            <a:ext cx="8686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000" b="0">
                <a:solidFill>
                  <a:srgbClr val="000000"/>
                </a:solidFill>
                <a:latin typeface="Lexend"/>
                <a:ea typeface="Lexend"/>
                <a:cs typeface="Lexend"/>
              </a:defRPr>
            </a:defPPr>
          </a:lstStyle>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Content: what it contains</a:t>
            </a:r>
          </a:p>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Structure: how it is organized</a:t>
            </a:r>
          </a:p>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Style: how it looks</a:t>
            </a:r>
          </a:p>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Accessibility: how people can use it</a:t>
            </a:r>
          </a:p>
        </p:txBody>
      </p:sp>
    </p:spTree>
    <p:extLst>
      <p:ext uri="{BB962C8B-B14F-4D97-AF65-F5344CB8AC3E}">
        <p14:creationId xmlns:p14="http://schemas.microsoft.com/office/powerpoint/2010/main" val="43743317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DCA149-8F90-4DB9-90D0-18AC16B01616}"/>
              </a:ext>
            </a:extLst>
          </p:cNvPr>
          <p:cNvSpPr>
            <a:spLocks xmlns:a="http://schemas.openxmlformats.org/drawingml/2006/main" noGrp="1"/>
          </p:cNvSpPr>
          <p:nvPr/>
        </p:nvSpPr>
        <p:spPr>
          <a:xfrm xmlns:a="http://schemas.openxmlformats.org/drawingml/2006/main">
            <a:off x="228600" y="190500"/>
            <a:ext cx="868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800" b="1">
                <a:solidFill>
                  <a:srgbClr val="000000"/>
                </a:solidFill>
                <a:latin typeface="Lexend"/>
                <a:ea typeface="Lexend"/>
                <a:cs typeface="Lexend"/>
              </a:defRPr>
            </a:defPPr>
          </a:lstStyle>
          <a:p xmlns:a="http://schemas.openxmlformats.org/drawingml/2006/main">
            <a:pPr>
              <a:defRPr sz="4800" b="1">
                <a:solidFill>
                  <a:srgbClr val="000000"/>
                </a:solidFill>
                <a:latin typeface="Lexend"/>
                <a:ea typeface="Lexend"/>
                <a:cs typeface="Lexend"/>
              </a:defRPr>
            </a:pPr>
            <a:r>
              <a:rPr sz="4800" b="1">
                <a:solidFill>
                  <a:srgbClr val="000000"/>
                </a:solidFill>
                <a:latin typeface="Lexend"/>
                <a:ea typeface="Lexend"/>
                <a:cs typeface="Lexend"/>
              </a:rPr>
              <a:t>Purpose</a:t>
            </a:r>
          </a:p>
        </p:txBody>
      </p:sp>
      <p:sp>
        <p:nvSpPr>
          <p:cNvPr id="2" name="Lesson content">
            <a:extLst xmlns:a="http://schemas.openxmlformats.org/drawingml/2006/main">
              <a:ext uri="{FF2B5EF4-FFF2-40B4-BE49-F238E27FC236}">
                <a16:creationId xmlns:a16="http://schemas.microsoft.com/office/drawing/2014/main" id="{2A5D11FF-A4A7-4C49-A1CC-8ADC147A27AA}"/>
              </a:ext>
            </a:extLst>
          </p:cNvPr>
          <p:cNvSpPr>
            <a:spLocks xmlns:a="http://schemas.openxmlformats.org/drawingml/2006/main" noGrp="1"/>
          </p:cNvSpPr>
          <p:nvPr/>
        </p:nvSpPr>
        <p:spPr>
          <a:xfrm xmlns:a="http://schemas.openxmlformats.org/drawingml/2006/main">
            <a:off x="228600" y="1181100"/>
            <a:ext cx="8686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000" b="0">
                <a:solidFill>
                  <a:srgbClr val="000000"/>
                </a:solidFill>
                <a:latin typeface="Lexend"/>
                <a:ea typeface="Lexend"/>
                <a:cs typeface="Lexend"/>
              </a:defRPr>
            </a:defPPr>
          </a:lstStyle>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What does the visitor come to do?</a:t>
            </a:r>
          </a:p>
          <a:p xmlns:a="http://schemas.openxmlformats.org/drawingml/2006/main">
            <a:r>
              <a:t/>
            </a:r>
          </a:p>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The purpose helps explain the design choices.</a:t>
            </a:r>
          </a:p>
        </p:txBody>
      </p:sp>
    </p:spTree>
    <p:extLst>
      <p:ext uri="{BB962C8B-B14F-4D97-AF65-F5344CB8AC3E}">
        <p14:creationId xmlns:p14="http://schemas.microsoft.com/office/powerpoint/2010/main" val="110050528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D80B6C-4B31-488D-A8E5-F44037ADD947}"/>
              </a:ext>
            </a:extLst>
          </p:cNvPr>
          <p:cNvSpPr>
            <a:spLocks xmlns:a="http://schemas.openxmlformats.org/drawingml/2006/main" noGrp="1"/>
          </p:cNvSpPr>
          <p:nvPr/>
        </p:nvSpPr>
        <p:spPr>
          <a:xfrm xmlns:a="http://schemas.openxmlformats.org/drawingml/2006/main">
            <a:off x="228600" y="190500"/>
            <a:ext cx="868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800" b="1">
                <a:solidFill>
                  <a:srgbClr val="000000"/>
                </a:solidFill>
                <a:latin typeface="Lexend"/>
                <a:ea typeface="Lexend"/>
                <a:cs typeface="Lexend"/>
              </a:defRPr>
            </a:defPPr>
          </a:lstStyle>
          <a:p xmlns:a="http://schemas.openxmlformats.org/drawingml/2006/main">
            <a:pPr>
              <a:defRPr sz="4800" b="1">
                <a:solidFill>
                  <a:srgbClr val="000000"/>
                </a:solidFill>
                <a:latin typeface="Lexend"/>
                <a:ea typeface="Lexend"/>
                <a:cs typeface="Lexend"/>
              </a:defRPr>
            </a:pPr>
            <a:r>
              <a:rPr sz="4800" b="1">
                <a:solidFill>
                  <a:srgbClr val="000000"/>
                </a:solidFill>
                <a:latin typeface="Lexend"/>
                <a:ea typeface="Lexend"/>
                <a:cs typeface="Lexend"/>
              </a:rPr>
              <a:t>Three common purposes</a:t>
            </a:r>
          </a:p>
        </p:txBody>
      </p:sp>
      <p:sp>
        <p:nvSpPr>
          <p:cNvPr id="2" name="Lesson content">
            <a:extLst xmlns:a="http://schemas.openxmlformats.org/drawingml/2006/main">
              <a:ext uri="{FF2B5EF4-FFF2-40B4-BE49-F238E27FC236}">
                <a16:creationId xmlns:a16="http://schemas.microsoft.com/office/drawing/2014/main" id="{9F5277F0-F6CA-4ED5-96AA-334583EA2FA2}"/>
              </a:ext>
            </a:extLst>
          </p:cNvPr>
          <p:cNvSpPr>
            <a:spLocks xmlns:a="http://schemas.openxmlformats.org/drawingml/2006/main" noGrp="1"/>
          </p:cNvSpPr>
          <p:nvPr/>
        </p:nvSpPr>
        <p:spPr>
          <a:xfrm xmlns:a="http://schemas.openxmlformats.org/drawingml/2006/main">
            <a:off x="228600" y="1181100"/>
            <a:ext cx="8686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000" b="0">
                <a:solidFill>
                  <a:srgbClr val="000000"/>
                </a:solidFill>
                <a:latin typeface="Lexend"/>
                <a:ea typeface="Lexend"/>
                <a:cs typeface="Lexend"/>
              </a:defRPr>
            </a:defPPr>
          </a:lstStyle>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Information: learn or find answers</a:t>
            </a:r>
          </a:p>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Entertainment: enjoy an experience</a:t>
            </a:r>
          </a:p>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Sales: buy a product or service</a:t>
            </a:r>
          </a:p>
        </p:txBody>
      </p:sp>
    </p:spTree>
    <p:extLst>
      <p:ext uri="{BB962C8B-B14F-4D97-AF65-F5344CB8AC3E}">
        <p14:creationId xmlns:p14="http://schemas.microsoft.com/office/powerpoint/2010/main" val="110050528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33EEB39-A0D4-4D05-B1AE-65883FFDD0F0}"/>
              </a:ext>
            </a:extLst>
          </p:cNvPr>
          <p:cNvSpPr>
            <a:spLocks xmlns:a="http://schemas.openxmlformats.org/drawingml/2006/main" noGrp="1"/>
          </p:cNvSpPr>
          <p:nvPr/>
        </p:nvSpPr>
        <p:spPr>
          <a:xfrm xmlns:a="http://schemas.openxmlformats.org/drawingml/2006/main">
            <a:off x="228600" y="190500"/>
            <a:ext cx="868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800" b="1">
                <a:solidFill>
                  <a:srgbClr val="000000"/>
                </a:solidFill>
                <a:latin typeface="Lexend"/>
                <a:ea typeface="Lexend"/>
                <a:cs typeface="Lexend"/>
              </a:defRPr>
            </a:defPPr>
          </a:lstStyle>
          <a:p xmlns:a="http://schemas.openxmlformats.org/drawingml/2006/main">
            <a:pPr>
              <a:defRPr sz="4800" b="1">
                <a:solidFill>
                  <a:srgbClr val="000000"/>
                </a:solidFill>
                <a:latin typeface="Lexend"/>
                <a:ea typeface="Lexend"/>
                <a:cs typeface="Lexend"/>
              </a:defRPr>
            </a:pPr>
            <a:r>
              <a:rPr sz="4800" b="1">
                <a:solidFill>
                  <a:srgbClr val="000000"/>
                </a:solidFill>
                <a:latin typeface="Lexend"/>
                <a:ea typeface="Lexend"/>
                <a:cs typeface="Lexend"/>
              </a:rPr>
              <a:t>Checkpoint</a:t>
            </a:r>
          </a:p>
        </p:txBody>
      </p:sp>
      <p:sp>
        <p:nvSpPr>
          <p:cNvPr id="2" name="Lesson content">
            <a:extLst xmlns:a="http://schemas.openxmlformats.org/drawingml/2006/main">
              <a:ext uri="{FF2B5EF4-FFF2-40B4-BE49-F238E27FC236}">
                <a16:creationId xmlns:a16="http://schemas.microsoft.com/office/drawing/2014/main" id="{79C95C5E-1E37-46F5-8504-4C148637F162}"/>
              </a:ext>
            </a:extLst>
          </p:cNvPr>
          <p:cNvSpPr>
            <a:spLocks xmlns:a="http://schemas.openxmlformats.org/drawingml/2006/main" noGrp="1"/>
          </p:cNvSpPr>
          <p:nvPr/>
        </p:nvSpPr>
        <p:spPr>
          <a:xfrm xmlns:a="http://schemas.openxmlformats.org/drawingml/2006/main">
            <a:off x="228600" y="1181100"/>
            <a:ext cx="8686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000" b="0">
                <a:solidFill>
                  <a:srgbClr val="000000"/>
                </a:solidFill>
                <a:latin typeface="Lexend"/>
                <a:ea typeface="Lexend"/>
                <a:cs typeface="Lexend"/>
              </a:defRPr>
            </a:defPPr>
          </a:lstStyle>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What number begins the title of Kubrick’s A Space Odyssey?</a:t>
            </a:r>
          </a:p>
        </p:txBody>
      </p:sp>
    </p:spTree>
    <p:extLst>
      <p:ext uri="{BB962C8B-B14F-4D97-AF65-F5344CB8AC3E}">
        <p14:creationId xmlns:p14="http://schemas.microsoft.com/office/powerpoint/2010/main" val="110050528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D313BF2-8417-4DC1-8730-EAAED773C308}"/>
              </a:ext>
            </a:extLst>
          </p:cNvPr>
          <p:cNvSpPr>
            <a:spLocks xmlns:a="http://schemas.openxmlformats.org/drawingml/2006/main" noGrp="1"/>
          </p:cNvSpPr>
          <p:nvPr/>
        </p:nvSpPr>
        <p:spPr>
          <a:xfrm xmlns:a="http://schemas.openxmlformats.org/drawingml/2006/main">
            <a:off x="228600" y="190500"/>
            <a:ext cx="868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800" b="1">
                <a:solidFill>
                  <a:srgbClr val="000000"/>
                </a:solidFill>
                <a:latin typeface="Lexend"/>
                <a:ea typeface="Lexend"/>
                <a:cs typeface="Lexend"/>
              </a:defRPr>
            </a:defPPr>
          </a:lstStyle>
          <a:p xmlns:a="http://schemas.openxmlformats.org/drawingml/2006/main">
            <a:pPr>
              <a:defRPr sz="4800" b="1">
                <a:solidFill>
                  <a:srgbClr val="000000"/>
                </a:solidFill>
                <a:latin typeface="Lexend"/>
                <a:ea typeface="Lexend"/>
                <a:cs typeface="Lexend"/>
              </a:defRPr>
            </a:pPr>
            <a:r>
              <a:rPr sz="4800" b="1">
                <a:solidFill>
                  <a:srgbClr val="000000"/>
                </a:solidFill>
                <a:latin typeface="Lexend"/>
                <a:ea typeface="Lexend"/>
                <a:cs typeface="Lexend"/>
              </a:rPr>
              <a:t>Information</a:t>
            </a:r>
          </a:p>
        </p:txBody>
      </p:sp>
      <p:sp>
        <p:nvSpPr>
          <p:cNvPr id="2" name="Lesson content">
            <a:extLst xmlns:a="http://schemas.openxmlformats.org/drawingml/2006/main">
              <a:ext uri="{FF2B5EF4-FFF2-40B4-BE49-F238E27FC236}">
                <a16:creationId xmlns:a16="http://schemas.microsoft.com/office/drawing/2014/main" id="{67DDDA71-289B-48C2-9964-17ACB1604217}"/>
              </a:ext>
            </a:extLst>
          </p:cNvPr>
          <p:cNvSpPr>
            <a:spLocks xmlns:a="http://schemas.openxmlformats.org/drawingml/2006/main" noGrp="1"/>
          </p:cNvSpPr>
          <p:nvPr/>
        </p:nvSpPr>
        <p:spPr>
          <a:xfrm xmlns:a="http://schemas.openxmlformats.org/drawingml/2006/main">
            <a:off x="228600" y="1181100"/>
            <a:ext cx="8686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000" b="0">
                <a:solidFill>
                  <a:srgbClr val="000000"/>
                </a:solidFill>
                <a:latin typeface="Lexend"/>
                <a:ea typeface="Lexend"/>
                <a:cs typeface="Lexend"/>
              </a:defRPr>
            </a:defPPr>
          </a:lstStyle>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Purpose: learn or find answers</a:t>
            </a:r>
          </a:p>
          <a:p xmlns:a="http://schemas.openxmlformats.org/drawingml/2006/main">
            <a:r>
              <a:t/>
            </a:r>
          </a:p>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Examples: Wikipedia, weather websites, school information pages</a:t>
            </a:r>
          </a:p>
        </p:txBody>
      </p:sp>
    </p:spTree>
    <p:extLst>
      <p:ext uri="{BB962C8B-B14F-4D97-AF65-F5344CB8AC3E}">
        <p14:creationId xmlns:p14="http://schemas.microsoft.com/office/powerpoint/2010/main" val="110050528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4681042-CC07-4C9B-9573-1E45C903C780}"/>
              </a:ext>
            </a:extLst>
          </p:cNvPr>
          <p:cNvSpPr>
            <a:spLocks xmlns:a="http://schemas.openxmlformats.org/drawingml/2006/main" noGrp="1"/>
          </p:cNvSpPr>
          <p:nvPr/>
        </p:nvSpPr>
        <p:spPr>
          <a:xfrm xmlns:a="http://schemas.openxmlformats.org/drawingml/2006/main">
            <a:off x="228600" y="190500"/>
            <a:ext cx="868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800" b="1">
                <a:solidFill>
                  <a:srgbClr val="000000"/>
                </a:solidFill>
                <a:latin typeface="Lexend"/>
                <a:ea typeface="Lexend"/>
                <a:cs typeface="Lexend"/>
              </a:defRPr>
            </a:defPPr>
          </a:lstStyle>
          <a:p xmlns:a="http://schemas.openxmlformats.org/drawingml/2006/main">
            <a:pPr>
              <a:defRPr sz="4800" b="1">
                <a:solidFill>
                  <a:srgbClr val="000000"/>
                </a:solidFill>
                <a:latin typeface="Lexend"/>
                <a:ea typeface="Lexend"/>
                <a:cs typeface="Lexend"/>
              </a:defRPr>
            </a:pPr>
            <a:r>
              <a:rPr sz="4800" b="1">
                <a:solidFill>
                  <a:srgbClr val="000000"/>
                </a:solidFill>
                <a:latin typeface="Lexend"/>
                <a:ea typeface="Lexend"/>
                <a:cs typeface="Lexend"/>
              </a:rPr>
              <a:t>Information design</a:t>
            </a:r>
          </a:p>
        </p:txBody>
      </p:sp>
      <p:sp>
        <p:nvSpPr>
          <p:cNvPr id="2" name="Lesson content">
            <a:extLst xmlns:a="http://schemas.openxmlformats.org/drawingml/2006/main">
              <a:ext uri="{FF2B5EF4-FFF2-40B4-BE49-F238E27FC236}">
                <a16:creationId xmlns:a16="http://schemas.microsoft.com/office/drawing/2014/main" id="{89870870-CC0D-43FA-AB3D-8D67DB995B6A}"/>
              </a:ext>
            </a:extLst>
          </p:cNvPr>
          <p:cNvSpPr>
            <a:spLocks xmlns:a="http://schemas.openxmlformats.org/drawingml/2006/main" noGrp="1"/>
          </p:cNvSpPr>
          <p:nvPr/>
        </p:nvSpPr>
        <p:spPr>
          <a:xfrm xmlns:a="http://schemas.openxmlformats.org/drawingml/2006/main">
            <a:off x="228600" y="1181100"/>
            <a:ext cx="8686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000" b="0">
                <a:solidFill>
                  <a:srgbClr val="000000"/>
                </a:solidFill>
                <a:latin typeface="Lexend"/>
                <a:ea typeface="Lexend"/>
                <a:cs typeface="Lexend"/>
              </a:defRPr>
            </a:defPPr>
          </a:lstStyle>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Clear headings organize a topic.</a:t>
            </a:r>
          </a:p>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Search helps visitors find an answer.</a:t>
            </a:r>
          </a:p>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Articles explain ideas in detail.</a:t>
            </a:r>
          </a:p>
        </p:txBody>
      </p:sp>
    </p:spTree>
    <p:extLst>
      <p:ext uri="{BB962C8B-B14F-4D97-AF65-F5344CB8AC3E}">
        <p14:creationId xmlns:p14="http://schemas.microsoft.com/office/powerpoint/2010/main" val="110050528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1016C86-F66D-4FFD-B2EA-923CEDCB882C}"/>
              </a:ext>
            </a:extLst>
          </p:cNvPr>
          <p:cNvSpPr>
            <a:spLocks xmlns:a="http://schemas.openxmlformats.org/drawingml/2006/main" noGrp="1"/>
          </p:cNvSpPr>
          <p:nvPr/>
        </p:nvSpPr>
        <p:spPr>
          <a:xfrm xmlns:a="http://schemas.openxmlformats.org/drawingml/2006/main">
            <a:off x="228600" y="190500"/>
            <a:ext cx="868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200" b="1">
                <a:solidFill>
                  <a:srgbClr val="000000"/>
                </a:solidFill>
                <a:latin typeface="Lexend"/>
                <a:ea typeface="Lexend"/>
                <a:cs typeface="Lexend"/>
              </a:defRPr>
            </a:defPPr>
          </a:lstStyle>
          <a:p xmlns:a="http://schemas.openxmlformats.org/drawingml/2006/main">
            <a:pPr>
              <a:defRPr sz="4200" b="1">
                <a:solidFill>
                  <a:srgbClr val="000000"/>
                </a:solidFill>
                <a:latin typeface="Lexend"/>
                <a:ea typeface="Lexend"/>
                <a:cs typeface="Lexend"/>
              </a:defRPr>
            </a:pPr>
            <a:r>
              <a:rPr sz="4200" b="1">
                <a:solidFill>
                  <a:srgbClr val="000000"/>
                </a:solidFill>
                <a:latin typeface="Lexend"/>
                <a:ea typeface="Lexend"/>
                <a:cs typeface="Lexend"/>
              </a:rPr>
              <a:t>Evidence and explanation</a:t>
            </a:r>
          </a:p>
        </p:txBody>
      </p:sp>
      <p:pic>
        <p:nvPicPr>
          <p:cNvPr id="2" name="">
            <a:extLst xmlns:a="http://schemas.openxmlformats.org/drawingml/2006/main">
              <a:ext uri="{FF2B5EF4-FFF2-40B4-BE49-F238E27FC236}">
                <a16:creationId xmlns:a16="http://schemas.microsoft.com/office/drawing/2014/main" id="{5A10FD7D-9B2A-48AF-89E8-22329533E8BE}"/>
              </a:ext>
            </a:extLst>
          </p:cNvPr>
          <p:cNvPicPr>
            <a:picLocks xmlns:a="http://schemas.openxmlformats.org/drawingml/2006/main" noChangeAspect="1"/>
          </p:cNvPicPr>
          <p:nvPr/>
        </p:nvPicPr>
        <p:blipFill>
          <a:blip xmlns:r="http://schemas.openxmlformats.org/officeDocument/2006/relationships" xmlns:a="http://schemas.openxmlformats.org/drawingml/2006/main" r:embed="Rb1ab796bbbb3410f"/>
          <a:stretch xmlns:a="http://schemas.openxmlformats.org/drawingml/2006/main"/>
        </p:blipFill>
        <p:spPr>
          <a:xfrm xmlns:a="http://schemas.openxmlformats.org/drawingml/2006/main">
            <a:off x="342900" y="1610607"/>
            <a:ext cx="8458200" cy="493537"/>
          </a:xfrm>
          <a:prstGeom xmlns:a="http://schemas.openxmlformats.org/drawingml/2006/main" prst="rect">
            <a:avLst/>
          </a:prstGeom>
        </p:spPr>
      </p:pic>
      <p:sp>
        <p:nvSpPr>
          <p:cNvPr id="3" name="Worked explanation">
            <a:extLst xmlns:a="http://schemas.openxmlformats.org/drawingml/2006/main">
              <a:ext uri="{FF2B5EF4-FFF2-40B4-BE49-F238E27FC236}">
                <a16:creationId xmlns:a16="http://schemas.microsoft.com/office/drawing/2014/main" id="{54B0EA1E-19DF-48FE-A70A-A233C3BB3CDA}"/>
              </a:ext>
            </a:extLst>
          </p:cNvPr>
          <p:cNvSpPr>
            <a:spLocks xmlns:a="http://schemas.openxmlformats.org/drawingml/2006/main" noGrp="1"/>
          </p:cNvSpPr>
          <p:nvPr/>
        </p:nvSpPr>
        <p:spPr>
          <a:xfrm xmlns:a="http://schemas.openxmlformats.org/drawingml/2006/main">
            <a:off x="342900" y="2857500"/>
            <a:ext cx="84582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000" b="0">
                <a:solidFill>
                  <a:srgbClr val="000000"/>
                </a:solidFill>
                <a:latin typeface="Lexend"/>
                <a:ea typeface="Lexend"/>
                <a:cs typeface="Lexend"/>
              </a:defRPr>
            </a:defPPr>
          </a:lstStyle>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A topic menu is Structure.</a:t>
            </a:r>
          </a:p>
          <a:p xmlns:a="http://schemas.openxmlformats.org/drawingml/2006/main">
            <a:r>
              <a:t/>
            </a:r>
          </a:p>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It helps visitors find the information they want.</a:t>
            </a:r>
          </a:p>
        </p:txBody>
      </p:sp>
    </p:spTree>
    <p:extLst>
      <p:ext uri="{BB962C8B-B14F-4D97-AF65-F5344CB8AC3E}">
        <p14:creationId xmlns:p14="http://schemas.microsoft.com/office/powerpoint/2010/main" val="110050528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DB0397A-E08F-41A6-A6EF-F29122E0E772}"/>
              </a:ext>
            </a:extLst>
          </p:cNvPr>
          <p:cNvSpPr>
            <a:spLocks xmlns:a="http://schemas.openxmlformats.org/drawingml/2006/main" noGrp="1"/>
          </p:cNvSpPr>
          <p:nvPr/>
        </p:nvSpPr>
        <p:spPr>
          <a:xfrm xmlns:a="http://schemas.openxmlformats.org/drawingml/2006/main">
            <a:off x="228600" y="190500"/>
            <a:ext cx="868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800" b="1">
                <a:solidFill>
                  <a:srgbClr val="000000"/>
                </a:solidFill>
                <a:latin typeface="Lexend"/>
                <a:ea typeface="Lexend"/>
                <a:cs typeface="Lexend"/>
              </a:defRPr>
            </a:defPPr>
          </a:lstStyle>
          <a:p xmlns:a="http://schemas.openxmlformats.org/drawingml/2006/main">
            <a:pPr>
              <a:defRPr sz="4800" b="1">
                <a:solidFill>
                  <a:srgbClr val="000000"/>
                </a:solidFill>
                <a:latin typeface="Lexend"/>
                <a:ea typeface="Lexend"/>
                <a:cs typeface="Lexend"/>
              </a:defRPr>
            </a:pPr>
            <a:r>
              <a:rPr sz="4800" b="1">
                <a:solidFill>
                  <a:srgbClr val="000000"/>
                </a:solidFill>
                <a:latin typeface="Lexend"/>
                <a:ea typeface="Lexend"/>
                <a:cs typeface="Lexend"/>
              </a:rPr>
              <a:t>Information check</a:t>
            </a:r>
          </a:p>
        </p:txBody>
      </p:sp>
      <p:sp>
        <p:nvSpPr>
          <p:cNvPr id="2" name="Lesson content">
            <a:extLst xmlns:a="http://schemas.openxmlformats.org/drawingml/2006/main">
              <a:ext uri="{FF2B5EF4-FFF2-40B4-BE49-F238E27FC236}">
                <a16:creationId xmlns:a16="http://schemas.microsoft.com/office/drawing/2014/main" id="{EFBA70B7-47DE-40C5-AF8F-109AA74EFE5A}"/>
              </a:ext>
            </a:extLst>
          </p:cNvPr>
          <p:cNvSpPr>
            <a:spLocks xmlns:a="http://schemas.openxmlformats.org/drawingml/2006/main" noGrp="1"/>
          </p:cNvSpPr>
          <p:nvPr/>
        </p:nvSpPr>
        <p:spPr>
          <a:xfrm xmlns:a="http://schemas.openxmlformats.org/drawingml/2006/main">
            <a:off x="228600" y="1181100"/>
            <a:ext cx="8686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000" b="0">
                <a:solidFill>
                  <a:srgbClr val="000000"/>
                </a:solidFill>
                <a:latin typeface="Lexend"/>
                <a:ea typeface="Lexend"/>
                <a:cs typeface="Lexend"/>
              </a:defRPr>
            </a:defPPr>
          </a:lstStyle>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How does your highlighted feature help someone learn or find an answer?</a:t>
            </a:r>
          </a:p>
        </p:txBody>
      </p:sp>
    </p:spTree>
    <p:extLst>
      <p:ext uri="{BB962C8B-B14F-4D97-AF65-F5344CB8AC3E}">
        <p14:creationId xmlns:p14="http://schemas.microsoft.com/office/powerpoint/2010/main" val="110050528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BF0E34-9731-4CA8-9838-5B74B7E0CFC1}"/>
              </a:ext>
            </a:extLst>
          </p:cNvPr>
          <p:cNvSpPr>
            <a:spLocks xmlns:a="http://schemas.openxmlformats.org/drawingml/2006/main" noGrp="1"/>
          </p:cNvSpPr>
          <p:nvPr/>
        </p:nvSpPr>
        <p:spPr>
          <a:xfrm xmlns:a="http://schemas.openxmlformats.org/drawingml/2006/main">
            <a:off x="228600" y="190500"/>
            <a:ext cx="868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800" b="1">
                <a:solidFill>
                  <a:srgbClr val="000000"/>
                </a:solidFill>
                <a:latin typeface="Lexend"/>
                <a:ea typeface="Lexend"/>
                <a:cs typeface="Lexend"/>
              </a:defRPr>
            </a:defPPr>
          </a:lstStyle>
          <a:p xmlns:a="http://schemas.openxmlformats.org/drawingml/2006/main">
            <a:pPr>
              <a:defRPr sz="4800" b="1">
                <a:solidFill>
                  <a:srgbClr val="000000"/>
                </a:solidFill>
                <a:latin typeface="Lexend"/>
                <a:ea typeface="Lexend"/>
                <a:cs typeface="Lexend"/>
              </a:defRPr>
            </a:pPr>
            <a:r>
              <a:rPr sz="4800" b="1">
                <a:solidFill>
                  <a:srgbClr val="000000"/>
                </a:solidFill>
                <a:latin typeface="Lexend"/>
                <a:ea typeface="Lexend"/>
                <a:cs typeface="Lexend"/>
              </a:rPr>
              <a:t>Checkpoint</a:t>
            </a:r>
          </a:p>
        </p:txBody>
      </p:sp>
      <p:sp>
        <p:nvSpPr>
          <p:cNvPr id="2" name="Lesson content">
            <a:extLst xmlns:a="http://schemas.openxmlformats.org/drawingml/2006/main">
              <a:ext uri="{FF2B5EF4-FFF2-40B4-BE49-F238E27FC236}">
                <a16:creationId xmlns:a16="http://schemas.microsoft.com/office/drawing/2014/main" id="{AACBA429-3596-44A5-A706-EB0DE7278118}"/>
              </a:ext>
            </a:extLst>
          </p:cNvPr>
          <p:cNvSpPr>
            <a:spLocks xmlns:a="http://schemas.openxmlformats.org/drawingml/2006/main" noGrp="1"/>
          </p:cNvSpPr>
          <p:nvPr/>
        </p:nvSpPr>
        <p:spPr>
          <a:xfrm xmlns:a="http://schemas.openxmlformats.org/drawingml/2006/main">
            <a:off x="228600" y="1181100"/>
            <a:ext cx="8686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000" b="0">
                <a:solidFill>
                  <a:srgbClr val="000000"/>
                </a:solidFill>
                <a:latin typeface="Lexend"/>
                <a:ea typeface="Lexend"/>
                <a:cs typeface="Lexend"/>
              </a:defRPr>
            </a:defPPr>
          </a:lstStyle>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Which four-digit movie title follows two British soldiers during World War I?</a:t>
            </a:r>
          </a:p>
        </p:txBody>
      </p:sp>
    </p:spTree>
    <p:extLst>
      <p:ext uri="{BB962C8B-B14F-4D97-AF65-F5344CB8AC3E}">
        <p14:creationId xmlns:p14="http://schemas.microsoft.com/office/powerpoint/2010/main" val="110050528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8049BD3-A68B-40E1-ACEE-B3C1F6BB4C8D}"/>
              </a:ext>
            </a:extLst>
          </p:cNvPr>
          <p:cNvSpPr>
            <a:spLocks xmlns:a="http://schemas.openxmlformats.org/drawingml/2006/main" noGrp="1"/>
          </p:cNvSpPr>
          <p:nvPr/>
        </p:nvSpPr>
        <p:spPr>
          <a:xfrm xmlns:a="http://schemas.openxmlformats.org/drawingml/2006/main">
            <a:off x="228600" y="190500"/>
            <a:ext cx="868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800" b="1">
                <a:solidFill>
                  <a:srgbClr val="000000"/>
                </a:solidFill>
                <a:latin typeface="Lexend"/>
                <a:ea typeface="Lexend"/>
                <a:cs typeface="Lexend"/>
              </a:defRPr>
            </a:defPPr>
          </a:lstStyle>
          <a:p xmlns:a="http://schemas.openxmlformats.org/drawingml/2006/main">
            <a:pPr>
              <a:defRPr sz="4800" b="1">
                <a:solidFill>
                  <a:srgbClr val="000000"/>
                </a:solidFill>
                <a:latin typeface="Lexend"/>
                <a:ea typeface="Lexend"/>
                <a:cs typeface="Lexend"/>
              </a:defRPr>
            </a:pPr>
            <a:r>
              <a:rPr sz="4800" b="1">
                <a:solidFill>
                  <a:srgbClr val="000000"/>
                </a:solidFill>
                <a:latin typeface="Lexend"/>
                <a:ea typeface="Lexend"/>
                <a:cs typeface="Lexend"/>
              </a:rPr>
              <a:t>Entertainment</a:t>
            </a:r>
          </a:p>
        </p:txBody>
      </p:sp>
      <p:sp>
        <p:nvSpPr>
          <p:cNvPr id="2" name="Lesson content">
            <a:extLst xmlns:a="http://schemas.openxmlformats.org/drawingml/2006/main">
              <a:ext uri="{FF2B5EF4-FFF2-40B4-BE49-F238E27FC236}">
                <a16:creationId xmlns:a16="http://schemas.microsoft.com/office/drawing/2014/main" id="{01FFB91A-2076-434B-9EC9-A42770CBB957}"/>
              </a:ext>
            </a:extLst>
          </p:cNvPr>
          <p:cNvSpPr>
            <a:spLocks xmlns:a="http://schemas.openxmlformats.org/drawingml/2006/main" noGrp="1"/>
          </p:cNvSpPr>
          <p:nvPr/>
        </p:nvSpPr>
        <p:spPr>
          <a:xfrm xmlns:a="http://schemas.openxmlformats.org/drawingml/2006/main">
            <a:off x="228600" y="1181100"/>
            <a:ext cx="8686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000" b="0">
                <a:solidFill>
                  <a:srgbClr val="000000"/>
                </a:solidFill>
                <a:latin typeface="Lexend"/>
                <a:ea typeface="Lexend"/>
                <a:cs typeface="Lexend"/>
              </a:defRPr>
            </a:defPPr>
          </a:lstStyle>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Purpose: enjoy an experience</a:t>
            </a:r>
          </a:p>
          <a:p xmlns:a="http://schemas.openxmlformats.org/drawingml/2006/main">
            <a:r>
              <a:t/>
            </a:r>
          </a:p>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Examples: video, music, and browser-game websites</a:t>
            </a:r>
          </a:p>
        </p:txBody>
      </p:sp>
    </p:spTree>
    <p:extLst>
      <p:ext uri="{BB962C8B-B14F-4D97-AF65-F5344CB8AC3E}">
        <p14:creationId xmlns:p14="http://schemas.microsoft.com/office/powerpoint/2010/main" val="110050528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15C998B-A40E-43BF-9DEF-9B673DAEB38B}"/>
              </a:ext>
            </a:extLst>
          </p:cNvPr>
          <p:cNvSpPr>
            <a:spLocks xmlns:a="http://schemas.openxmlformats.org/drawingml/2006/main" noGrp="1"/>
          </p:cNvSpPr>
          <p:nvPr/>
        </p:nvSpPr>
        <p:spPr>
          <a:xfrm xmlns:a="http://schemas.openxmlformats.org/drawingml/2006/main">
            <a:off x="228600" y="190500"/>
            <a:ext cx="868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800" b="1">
                <a:solidFill>
                  <a:srgbClr val="000000"/>
                </a:solidFill>
                <a:latin typeface="Lexend"/>
                <a:ea typeface="Lexend"/>
                <a:cs typeface="Lexend"/>
              </a:defRPr>
            </a:defPPr>
          </a:lstStyle>
          <a:p xmlns:a="http://schemas.openxmlformats.org/drawingml/2006/main">
            <a:pPr>
              <a:defRPr sz="4800" b="1">
                <a:solidFill>
                  <a:srgbClr val="000000"/>
                </a:solidFill>
                <a:latin typeface="Lexend"/>
                <a:ea typeface="Lexend"/>
                <a:cs typeface="Lexend"/>
              </a:defRPr>
            </a:pPr>
            <a:r>
              <a:rPr sz="4800" b="1">
                <a:solidFill>
                  <a:srgbClr val="000000"/>
                </a:solidFill>
                <a:latin typeface="Lexend"/>
                <a:ea typeface="Lexend"/>
                <a:cs typeface="Lexend"/>
              </a:rPr>
              <a:t>Entertainment design</a:t>
            </a:r>
          </a:p>
        </p:txBody>
      </p:sp>
      <p:sp>
        <p:nvSpPr>
          <p:cNvPr id="2" name="Worked explanation">
            <a:extLst xmlns:a="http://schemas.openxmlformats.org/drawingml/2006/main">
              <a:ext uri="{FF2B5EF4-FFF2-40B4-BE49-F238E27FC236}">
                <a16:creationId xmlns:a16="http://schemas.microsoft.com/office/drawing/2014/main" id="{A6BBF4EC-A544-4750-BFF0-004E7A409325}"/>
              </a:ext>
            </a:extLst>
          </p:cNvPr>
          <p:cNvSpPr>
            <a:spLocks xmlns:a="http://schemas.openxmlformats.org/drawingml/2006/main" noGrp="1"/>
          </p:cNvSpPr>
          <p:nvPr/>
        </p:nvSpPr>
        <p:spPr>
          <a:xfrm xmlns:a="http://schemas.openxmlformats.org/drawingml/2006/main">
            <a:off x="285750" y="1333500"/>
            <a:ext cx="3714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700" b="0">
                <a:solidFill>
                  <a:srgbClr val="000000"/>
                </a:solidFill>
                <a:latin typeface="Lexend"/>
                <a:ea typeface="Lexend"/>
                <a:cs typeface="Lexend"/>
              </a:defRPr>
            </a:defPPr>
          </a:lstStyle>
          <a:p xmlns:a="http://schemas.openxmlformats.org/drawingml/2006/main">
            <a:pPr>
              <a:defRPr sz="2700" b="0">
                <a:solidFill>
                  <a:srgbClr val="000000"/>
                </a:solidFill>
                <a:latin typeface="Lexend"/>
                <a:ea typeface="Lexend"/>
                <a:cs typeface="Lexend"/>
              </a:defRPr>
            </a:pPr>
            <a:r>
              <a:rPr sz="2700" b="0">
                <a:solidFill>
                  <a:srgbClr val="000000"/>
                </a:solidFill>
                <a:latin typeface="Lexend"/>
                <a:ea typeface="Lexend"/>
                <a:cs typeface="Lexend"/>
              </a:rPr>
              <a:t>A title and preview are Content.</a:t>
            </a:r>
          </a:p>
          <a:p xmlns:a="http://schemas.openxmlformats.org/drawingml/2006/main">
            <a:r>
              <a:t/>
            </a:r>
          </a:p>
          <a:p xmlns:a="http://schemas.openxmlformats.org/drawingml/2006/main">
            <a:pPr>
              <a:defRPr sz="2700" b="0">
                <a:solidFill>
                  <a:srgbClr val="000000"/>
                </a:solidFill>
                <a:latin typeface="Lexend"/>
                <a:ea typeface="Lexend"/>
                <a:cs typeface="Lexend"/>
              </a:defRPr>
            </a:pPr>
            <a:r>
              <a:rPr sz="2700" b="0">
                <a:solidFill>
                  <a:srgbClr val="000000"/>
                </a:solidFill>
                <a:latin typeface="Lexend"/>
                <a:ea typeface="Lexend"/>
                <a:cs typeface="Lexend"/>
              </a:rPr>
              <a:t>They help visitors choose something to watch.</a:t>
            </a:r>
          </a:p>
        </p:txBody>
      </p:sp>
      <p:pic>
        <p:nvPicPr>
          <p:cNvPr id="3" name="">
            <a:extLst xmlns:a="http://schemas.openxmlformats.org/drawingml/2006/main">
              <a:ext uri="{FF2B5EF4-FFF2-40B4-BE49-F238E27FC236}">
                <a16:creationId xmlns:a16="http://schemas.microsoft.com/office/drawing/2014/main" id="{21D2EF6E-4AB0-42DC-A5B6-469FDF83581E}"/>
              </a:ext>
            </a:extLst>
          </p:cNvPr>
          <p:cNvPicPr>
            <a:picLocks xmlns:a="http://schemas.openxmlformats.org/drawingml/2006/main" noChangeAspect="1"/>
          </p:cNvPicPr>
          <p:nvPr/>
        </p:nvPicPr>
        <p:blipFill>
          <a:blip xmlns:r="http://schemas.openxmlformats.org/officeDocument/2006/relationships" xmlns:a="http://schemas.openxmlformats.org/drawingml/2006/main" r:embed="R558ecfc730d643d1"/>
          <a:stretch xmlns:a="http://schemas.openxmlformats.org/drawingml/2006/main"/>
        </p:blipFill>
        <p:spPr>
          <a:xfrm xmlns:a="http://schemas.openxmlformats.org/drawingml/2006/main">
            <a:off x="4286250" y="1490161"/>
            <a:ext cx="4572000" cy="2877553"/>
          </a:xfrm>
          <a:prstGeom xmlns:a="http://schemas.openxmlformats.org/drawingml/2006/main" prst="rect">
            <a:avLst/>
          </a:prstGeom>
        </p:spPr>
      </p:pic>
    </p:spTree>
    <p:extLst>
      <p:ext uri="{BB962C8B-B14F-4D97-AF65-F5344CB8AC3E}">
        <p14:creationId xmlns:p14="http://schemas.microsoft.com/office/powerpoint/2010/main" val="111396750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820AD77-A7CC-4BC4-99AC-DBF6A67D2D61}"/>
              </a:ext>
            </a:extLst>
          </p:cNvPr>
          <p:cNvSpPr>
            <a:spLocks xmlns:a="http://schemas.openxmlformats.org/drawingml/2006/main" noGrp="1"/>
          </p:cNvSpPr>
          <p:nvPr/>
        </p:nvSpPr>
        <p:spPr>
          <a:xfrm xmlns:a="http://schemas.openxmlformats.org/drawingml/2006/main">
            <a:off x="228600" y="190500"/>
            <a:ext cx="868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800" b="1">
                <a:solidFill>
                  <a:srgbClr val="000000"/>
                </a:solidFill>
                <a:latin typeface="Lexend"/>
                <a:ea typeface="Lexend"/>
                <a:cs typeface="Lexend"/>
              </a:defRPr>
            </a:defPPr>
          </a:lstStyle>
          <a:p xmlns:a="http://schemas.openxmlformats.org/drawingml/2006/main">
            <a:pPr>
              <a:defRPr sz="4800" b="1">
                <a:solidFill>
                  <a:srgbClr val="000000"/>
                </a:solidFill>
                <a:latin typeface="Lexend"/>
                <a:ea typeface="Lexend"/>
                <a:cs typeface="Lexend"/>
              </a:defRPr>
            </a:pPr>
            <a:r>
              <a:rPr sz="4800" b="1">
                <a:solidFill>
                  <a:srgbClr val="000000"/>
                </a:solidFill>
                <a:latin typeface="Lexend"/>
                <a:ea typeface="Lexend"/>
                <a:cs typeface="Lexend"/>
              </a:rPr>
              <a:t>Entertainment check</a:t>
            </a:r>
          </a:p>
        </p:txBody>
      </p:sp>
      <p:sp>
        <p:nvSpPr>
          <p:cNvPr id="2" name="Lesson content">
            <a:extLst xmlns:a="http://schemas.openxmlformats.org/drawingml/2006/main">
              <a:ext uri="{FF2B5EF4-FFF2-40B4-BE49-F238E27FC236}">
                <a16:creationId xmlns:a16="http://schemas.microsoft.com/office/drawing/2014/main" id="{8BA9D403-6D93-43CA-9575-D3D9C3490B6D}"/>
              </a:ext>
            </a:extLst>
          </p:cNvPr>
          <p:cNvSpPr>
            <a:spLocks xmlns:a="http://schemas.openxmlformats.org/drawingml/2006/main" noGrp="1"/>
          </p:cNvSpPr>
          <p:nvPr/>
        </p:nvSpPr>
        <p:spPr>
          <a:xfrm xmlns:a="http://schemas.openxmlformats.org/drawingml/2006/main">
            <a:off x="228600" y="1181100"/>
            <a:ext cx="8686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000" b="0">
                <a:solidFill>
                  <a:srgbClr val="000000"/>
                </a:solidFill>
                <a:latin typeface="Lexend"/>
                <a:ea typeface="Lexend"/>
                <a:cs typeface="Lexend"/>
              </a:defRPr>
            </a:defPPr>
          </a:lstStyle>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Which feature encourages visitors to keep exploring?</a:t>
            </a:r>
          </a:p>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How does it work?</a:t>
            </a:r>
          </a:p>
        </p:txBody>
      </p:sp>
    </p:spTree>
    <p:extLst>
      <p:ext uri="{BB962C8B-B14F-4D97-AF65-F5344CB8AC3E}">
        <p14:creationId xmlns:p14="http://schemas.microsoft.com/office/powerpoint/2010/main" val="110050528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84C2934-929B-41A6-8145-376E2574D86C}"/>
              </a:ext>
            </a:extLst>
          </p:cNvPr>
          <p:cNvSpPr>
            <a:spLocks xmlns:a="http://schemas.openxmlformats.org/drawingml/2006/main" noGrp="1"/>
          </p:cNvSpPr>
          <p:nvPr/>
        </p:nvSpPr>
        <p:spPr>
          <a:xfrm xmlns:a="http://schemas.openxmlformats.org/drawingml/2006/main">
            <a:off x="228600" y="190500"/>
            <a:ext cx="868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800" b="1">
                <a:solidFill>
                  <a:srgbClr val="000000"/>
                </a:solidFill>
                <a:latin typeface="Lexend"/>
                <a:ea typeface="Lexend"/>
                <a:cs typeface="Lexend"/>
              </a:defRPr>
            </a:defPPr>
          </a:lstStyle>
          <a:p xmlns:a="http://schemas.openxmlformats.org/drawingml/2006/main">
            <a:pPr>
              <a:defRPr sz="4800" b="1">
                <a:solidFill>
                  <a:srgbClr val="000000"/>
                </a:solidFill>
                <a:latin typeface="Lexend"/>
                <a:ea typeface="Lexend"/>
                <a:cs typeface="Lexend"/>
              </a:defRPr>
            </a:pPr>
            <a:r>
              <a:rPr sz="4800" b="1">
                <a:solidFill>
                  <a:srgbClr val="000000"/>
                </a:solidFill>
                <a:latin typeface="Lexend"/>
                <a:ea typeface="Lexend"/>
                <a:cs typeface="Lexend"/>
              </a:rPr>
              <a:t>Checkpoint</a:t>
            </a:r>
          </a:p>
        </p:txBody>
      </p:sp>
      <p:sp>
        <p:nvSpPr>
          <p:cNvPr id="2" name="Lesson content">
            <a:extLst xmlns:a="http://schemas.openxmlformats.org/drawingml/2006/main">
              <a:ext uri="{FF2B5EF4-FFF2-40B4-BE49-F238E27FC236}">
                <a16:creationId xmlns:a16="http://schemas.microsoft.com/office/drawing/2014/main" id="{71DFAFDA-6BAF-4441-99E7-01AB92D13EFF}"/>
              </a:ext>
            </a:extLst>
          </p:cNvPr>
          <p:cNvSpPr>
            <a:spLocks xmlns:a="http://schemas.openxmlformats.org/drawingml/2006/main" noGrp="1"/>
          </p:cNvSpPr>
          <p:nvPr/>
        </p:nvSpPr>
        <p:spPr>
          <a:xfrm xmlns:a="http://schemas.openxmlformats.org/drawingml/2006/main">
            <a:off x="228600" y="1181100"/>
            <a:ext cx="8686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000" b="0">
                <a:solidFill>
                  <a:srgbClr val="000000"/>
                </a:solidFill>
                <a:latin typeface="Lexend"/>
                <a:ea typeface="Lexend"/>
                <a:cs typeface="Lexend"/>
              </a:defRPr>
            </a:defPPr>
          </a:lstStyle>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Which four-digit movie title comes from George Orwell’s story about Big Brother?</a:t>
            </a:r>
          </a:p>
        </p:txBody>
      </p:sp>
    </p:spTree>
    <p:extLst>
      <p:ext uri="{BB962C8B-B14F-4D97-AF65-F5344CB8AC3E}">
        <p14:creationId xmlns:p14="http://schemas.microsoft.com/office/powerpoint/2010/main" val="43743317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87C4D3-496D-4B3D-A94E-483731FA3EFA}"/>
              </a:ext>
            </a:extLst>
          </p:cNvPr>
          <p:cNvSpPr>
            <a:spLocks xmlns:a="http://schemas.openxmlformats.org/drawingml/2006/main" noGrp="1"/>
          </p:cNvSpPr>
          <p:nvPr/>
        </p:nvSpPr>
        <p:spPr>
          <a:xfrm xmlns:a="http://schemas.openxmlformats.org/drawingml/2006/main">
            <a:off x="228600" y="190500"/>
            <a:ext cx="868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800" b="1">
                <a:solidFill>
                  <a:srgbClr val="000000"/>
                </a:solidFill>
                <a:latin typeface="Lexend"/>
                <a:ea typeface="Lexend"/>
                <a:cs typeface="Lexend"/>
              </a:defRPr>
            </a:defPPr>
          </a:lstStyle>
          <a:p xmlns:a="http://schemas.openxmlformats.org/drawingml/2006/main">
            <a:pPr>
              <a:defRPr sz="4800" b="1">
                <a:solidFill>
                  <a:srgbClr val="000000"/>
                </a:solidFill>
                <a:latin typeface="Lexend"/>
                <a:ea typeface="Lexend"/>
                <a:cs typeface="Lexend"/>
              </a:defRPr>
            </a:pPr>
            <a:r>
              <a:rPr sz="4800" b="1">
                <a:solidFill>
                  <a:srgbClr val="000000"/>
                </a:solidFill>
                <a:latin typeface="Lexend"/>
                <a:ea typeface="Lexend"/>
                <a:cs typeface="Lexend"/>
              </a:rPr>
              <a:t>Sales</a:t>
            </a:r>
          </a:p>
        </p:txBody>
      </p:sp>
      <p:sp>
        <p:nvSpPr>
          <p:cNvPr id="2" name="Lesson content">
            <a:extLst xmlns:a="http://schemas.openxmlformats.org/drawingml/2006/main">
              <a:ext uri="{FF2B5EF4-FFF2-40B4-BE49-F238E27FC236}">
                <a16:creationId xmlns:a16="http://schemas.microsoft.com/office/drawing/2014/main" id="{8CA29A96-B4E5-459B-9BF8-09D1D5411253}"/>
              </a:ext>
            </a:extLst>
          </p:cNvPr>
          <p:cNvSpPr>
            <a:spLocks xmlns:a="http://schemas.openxmlformats.org/drawingml/2006/main" noGrp="1"/>
          </p:cNvSpPr>
          <p:nvPr/>
        </p:nvSpPr>
        <p:spPr>
          <a:xfrm xmlns:a="http://schemas.openxmlformats.org/drawingml/2006/main">
            <a:off x="228600" y="1181100"/>
            <a:ext cx="8686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000" b="0">
                <a:solidFill>
                  <a:srgbClr val="000000"/>
                </a:solidFill>
                <a:latin typeface="Lexend"/>
                <a:ea typeface="Lexend"/>
                <a:cs typeface="Lexend"/>
              </a:defRPr>
            </a:defPPr>
          </a:lstStyle>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Purpose: buy a product or service</a:t>
            </a:r>
          </a:p>
          <a:p xmlns:a="http://schemas.openxmlformats.org/drawingml/2006/main">
            <a:r>
              <a:t/>
            </a:r>
          </a:p>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Examples: online shops and ticket websites</a:t>
            </a:r>
          </a:p>
        </p:txBody>
      </p:sp>
    </p:spTree>
    <p:extLst>
      <p:ext uri="{BB962C8B-B14F-4D97-AF65-F5344CB8AC3E}">
        <p14:creationId xmlns:p14="http://schemas.microsoft.com/office/powerpoint/2010/main" val="110050528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AB8D101-B537-41FD-B61E-0C964C173670}"/>
              </a:ext>
            </a:extLst>
          </p:cNvPr>
          <p:cNvSpPr>
            <a:spLocks xmlns:a="http://schemas.openxmlformats.org/drawingml/2006/main" noGrp="1"/>
          </p:cNvSpPr>
          <p:nvPr/>
        </p:nvSpPr>
        <p:spPr>
          <a:xfrm xmlns:a="http://schemas.openxmlformats.org/drawingml/2006/main">
            <a:off x="228600" y="190500"/>
            <a:ext cx="868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800" b="1">
                <a:solidFill>
                  <a:srgbClr val="000000"/>
                </a:solidFill>
                <a:latin typeface="Lexend"/>
                <a:ea typeface="Lexend"/>
                <a:cs typeface="Lexend"/>
              </a:defRPr>
            </a:defPPr>
          </a:lstStyle>
          <a:p xmlns:a="http://schemas.openxmlformats.org/drawingml/2006/main">
            <a:pPr>
              <a:defRPr sz="4800" b="1">
                <a:solidFill>
                  <a:srgbClr val="000000"/>
                </a:solidFill>
                <a:latin typeface="Lexend"/>
                <a:ea typeface="Lexend"/>
                <a:cs typeface="Lexend"/>
              </a:defRPr>
            </a:pPr>
            <a:r>
              <a:rPr sz="4800" b="1">
                <a:solidFill>
                  <a:srgbClr val="000000"/>
                </a:solidFill>
                <a:latin typeface="Lexend"/>
                <a:ea typeface="Lexend"/>
                <a:cs typeface="Lexend"/>
              </a:rPr>
              <a:t>Sales design</a:t>
            </a:r>
          </a:p>
        </p:txBody>
      </p:sp>
      <p:sp>
        <p:nvSpPr>
          <p:cNvPr id="2" name="Worked explanation">
            <a:extLst xmlns:a="http://schemas.openxmlformats.org/drawingml/2006/main">
              <a:ext uri="{FF2B5EF4-FFF2-40B4-BE49-F238E27FC236}">
                <a16:creationId xmlns:a16="http://schemas.microsoft.com/office/drawing/2014/main" id="{79D25521-45C2-4605-9B93-6D9ACE61F3B8}"/>
              </a:ext>
            </a:extLst>
          </p:cNvPr>
          <p:cNvSpPr>
            <a:spLocks xmlns:a="http://schemas.openxmlformats.org/drawingml/2006/main" noGrp="1"/>
          </p:cNvSpPr>
          <p:nvPr/>
        </p:nvSpPr>
        <p:spPr>
          <a:xfrm xmlns:a="http://schemas.openxmlformats.org/drawingml/2006/main">
            <a:off x="285750" y="1333500"/>
            <a:ext cx="3714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700" b="0">
                <a:solidFill>
                  <a:srgbClr val="000000"/>
                </a:solidFill>
                <a:latin typeface="Lexend"/>
                <a:ea typeface="Lexend"/>
                <a:cs typeface="Lexend"/>
              </a:defRPr>
            </a:defPPr>
          </a:lstStyle>
          <a:p xmlns:a="http://schemas.openxmlformats.org/drawingml/2006/main">
            <a:pPr>
              <a:defRPr sz="2700" b="0">
                <a:solidFill>
                  <a:srgbClr val="000000"/>
                </a:solidFill>
                <a:latin typeface="Lexend"/>
                <a:ea typeface="Lexend"/>
                <a:cs typeface="Lexend"/>
              </a:defRPr>
            </a:pPr>
            <a:r>
              <a:rPr sz="2700" b="0">
                <a:solidFill>
                  <a:srgbClr val="000000"/>
                </a:solidFill>
                <a:latin typeface="Lexend"/>
                <a:ea typeface="Lexend"/>
                <a:cs typeface="Lexend"/>
              </a:rPr>
              <a:t>Prices and reviews are Content.</a:t>
            </a:r>
          </a:p>
          <a:p xmlns:a="http://schemas.openxmlformats.org/drawingml/2006/main">
            <a:r>
              <a:t/>
            </a:r>
          </a:p>
          <a:p xmlns:a="http://schemas.openxmlformats.org/drawingml/2006/main">
            <a:pPr>
              <a:defRPr sz="2700" b="0">
                <a:solidFill>
                  <a:srgbClr val="000000"/>
                </a:solidFill>
                <a:latin typeface="Lexend"/>
                <a:ea typeface="Lexend"/>
                <a:cs typeface="Lexend"/>
              </a:defRPr>
            </a:pPr>
            <a:r>
              <a:rPr sz="2700" b="0">
                <a:solidFill>
                  <a:srgbClr val="000000"/>
                </a:solidFill>
                <a:latin typeface="Lexend"/>
                <a:ea typeface="Lexend"/>
                <a:cs typeface="Lexend"/>
              </a:rPr>
              <a:t>They help visitors compare options before buying.</a:t>
            </a:r>
          </a:p>
        </p:txBody>
      </p:sp>
      <p:pic>
        <p:nvPicPr>
          <p:cNvPr id="3" name="">
            <a:extLst xmlns:a="http://schemas.openxmlformats.org/drawingml/2006/main">
              <a:ext uri="{FF2B5EF4-FFF2-40B4-BE49-F238E27FC236}">
                <a16:creationId xmlns:a16="http://schemas.microsoft.com/office/drawing/2014/main" id="{3AC26611-5848-4924-8CEB-87B9CE6EA317}"/>
              </a:ext>
            </a:extLst>
          </p:cNvPr>
          <p:cNvPicPr>
            <a:picLocks xmlns:a="http://schemas.openxmlformats.org/drawingml/2006/main" noChangeAspect="1"/>
          </p:cNvPicPr>
          <p:nvPr/>
        </p:nvPicPr>
        <p:blipFill>
          <a:blip xmlns:r="http://schemas.openxmlformats.org/officeDocument/2006/relationships" xmlns:a="http://schemas.openxmlformats.org/drawingml/2006/main" r:embed="Raebd173129954598"/>
          <a:stretch xmlns:a="http://schemas.openxmlformats.org/drawingml/2006/main"/>
        </p:blipFill>
        <p:spPr>
          <a:xfrm xmlns:a="http://schemas.openxmlformats.org/drawingml/2006/main">
            <a:off x="4286250" y="2239109"/>
            <a:ext cx="4572000" cy="1379656"/>
          </a:xfrm>
          <a:prstGeom xmlns:a="http://schemas.openxmlformats.org/drawingml/2006/main" prst="rect">
            <a:avLst/>
          </a:prstGeom>
        </p:spPr>
      </p:pic>
    </p:spTree>
    <p:extLst>
      <p:ext uri="{BB962C8B-B14F-4D97-AF65-F5344CB8AC3E}">
        <p14:creationId xmlns:p14="http://schemas.microsoft.com/office/powerpoint/2010/main" val="110050528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09400F4-FF3C-4029-8CFA-6B5A8007FFC6}"/>
              </a:ext>
            </a:extLst>
          </p:cNvPr>
          <p:cNvSpPr>
            <a:spLocks xmlns:a="http://schemas.openxmlformats.org/drawingml/2006/main" noGrp="1"/>
          </p:cNvSpPr>
          <p:nvPr/>
        </p:nvSpPr>
        <p:spPr>
          <a:xfrm xmlns:a="http://schemas.openxmlformats.org/drawingml/2006/main">
            <a:off x="228600" y="190500"/>
            <a:ext cx="868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800" b="1">
                <a:solidFill>
                  <a:srgbClr val="000000"/>
                </a:solidFill>
                <a:latin typeface="Lexend"/>
                <a:ea typeface="Lexend"/>
                <a:cs typeface="Lexend"/>
              </a:defRPr>
            </a:defPPr>
          </a:lstStyle>
          <a:p xmlns:a="http://schemas.openxmlformats.org/drawingml/2006/main">
            <a:pPr>
              <a:defRPr sz="4800" b="1">
                <a:solidFill>
                  <a:srgbClr val="000000"/>
                </a:solidFill>
                <a:latin typeface="Lexend"/>
                <a:ea typeface="Lexend"/>
                <a:cs typeface="Lexend"/>
              </a:defRPr>
            </a:pPr>
            <a:r>
              <a:rPr sz="4800" b="1">
                <a:solidFill>
                  <a:srgbClr val="000000"/>
                </a:solidFill>
                <a:latin typeface="Lexend"/>
                <a:ea typeface="Lexend"/>
                <a:cs typeface="Lexend"/>
              </a:rPr>
              <a:t>Sales check</a:t>
            </a:r>
          </a:p>
        </p:txBody>
      </p:sp>
      <p:sp>
        <p:nvSpPr>
          <p:cNvPr id="2" name="Lesson content">
            <a:extLst xmlns:a="http://schemas.openxmlformats.org/drawingml/2006/main">
              <a:ext uri="{FF2B5EF4-FFF2-40B4-BE49-F238E27FC236}">
                <a16:creationId xmlns:a16="http://schemas.microsoft.com/office/drawing/2014/main" id="{9C37EF39-CC70-497F-B064-1156BFDB47B5}"/>
              </a:ext>
            </a:extLst>
          </p:cNvPr>
          <p:cNvSpPr>
            <a:spLocks xmlns:a="http://schemas.openxmlformats.org/drawingml/2006/main" noGrp="1"/>
          </p:cNvSpPr>
          <p:nvPr/>
        </p:nvSpPr>
        <p:spPr>
          <a:xfrm xmlns:a="http://schemas.openxmlformats.org/drawingml/2006/main">
            <a:off x="228600" y="1181100"/>
            <a:ext cx="8686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000" b="0">
                <a:solidFill>
                  <a:srgbClr val="000000"/>
                </a:solidFill>
                <a:latin typeface="Lexend"/>
                <a:ea typeface="Lexend"/>
                <a:cs typeface="Lexend"/>
              </a:defRPr>
            </a:defPPr>
          </a:lstStyle>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Which feature would help a customer decide to buy?</a:t>
            </a:r>
          </a:p>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Why?</a:t>
            </a:r>
          </a:p>
        </p:txBody>
      </p:sp>
    </p:spTree>
    <p:extLst>
      <p:ext uri="{BB962C8B-B14F-4D97-AF65-F5344CB8AC3E}">
        <p14:creationId xmlns:p14="http://schemas.microsoft.com/office/powerpoint/2010/main" val="110050528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5EE0DD-036A-49D2-837D-7D721469B8C3}"/>
              </a:ext>
            </a:extLst>
          </p:cNvPr>
          <p:cNvSpPr>
            <a:spLocks xmlns:a="http://schemas.openxmlformats.org/drawingml/2006/main" noGrp="1"/>
          </p:cNvSpPr>
          <p:nvPr/>
        </p:nvSpPr>
        <p:spPr>
          <a:xfrm xmlns:a="http://schemas.openxmlformats.org/drawingml/2006/main">
            <a:off x="228600" y="190500"/>
            <a:ext cx="868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800" b="1">
                <a:solidFill>
                  <a:srgbClr val="000000"/>
                </a:solidFill>
                <a:latin typeface="Lexend"/>
                <a:ea typeface="Lexend"/>
                <a:cs typeface="Lexend"/>
              </a:defRPr>
            </a:defPPr>
          </a:lstStyle>
          <a:p xmlns:a="http://schemas.openxmlformats.org/drawingml/2006/main">
            <a:pPr>
              <a:defRPr sz="4800" b="1">
                <a:solidFill>
                  <a:srgbClr val="000000"/>
                </a:solidFill>
                <a:latin typeface="Lexend"/>
                <a:ea typeface="Lexend"/>
                <a:cs typeface="Lexend"/>
              </a:defRPr>
            </a:pPr>
            <a:r>
              <a:rPr sz="4800" b="1">
                <a:solidFill>
                  <a:srgbClr val="000000"/>
                </a:solidFill>
                <a:latin typeface="Lexend"/>
                <a:ea typeface="Lexend"/>
                <a:cs typeface="Lexend"/>
              </a:rPr>
              <a:t>More than one purpose</a:t>
            </a:r>
          </a:p>
        </p:txBody>
      </p:sp>
      <p:sp>
        <p:nvSpPr>
          <p:cNvPr id="2" name="Lesson content">
            <a:extLst xmlns:a="http://schemas.openxmlformats.org/drawingml/2006/main">
              <a:ext uri="{FF2B5EF4-FFF2-40B4-BE49-F238E27FC236}">
                <a16:creationId xmlns:a16="http://schemas.microsoft.com/office/drawing/2014/main" id="{FF9E5E4F-683C-4C92-8985-1833653CB460}"/>
              </a:ext>
            </a:extLst>
          </p:cNvPr>
          <p:cNvSpPr>
            <a:spLocks xmlns:a="http://schemas.openxmlformats.org/drawingml/2006/main" noGrp="1"/>
          </p:cNvSpPr>
          <p:nvPr/>
        </p:nvSpPr>
        <p:spPr>
          <a:xfrm xmlns:a="http://schemas.openxmlformats.org/drawingml/2006/main">
            <a:off x="228600" y="1181100"/>
            <a:ext cx="8686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000" b="0">
                <a:solidFill>
                  <a:srgbClr val="000000"/>
                </a:solidFill>
                <a:latin typeface="Lexend"/>
                <a:ea typeface="Lexend"/>
                <a:cs typeface="Lexend"/>
              </a:defRPr>
            </a:defPPr>
          </a:lstStyle>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A video site may sell subscriptions.</a:t>
            </a:r>
          </a:p>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A shop may publish a helpful guide.</a:t>
            </a:r>
          </a:p>
          <a:p xmlns:a="http://schemas.openxmlformats.org/drawingml/2006/main">
            <a:r>
              <a:t/>
            </a:r>
          </a:p>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Which goal does most of the design support?</a:t>
            </a:r>
          </a:p>
        </p:txBody>
      </p:sp>
    </p:spTree>
    <p:extLst>
      <p:ext uri="{BB962C8B-B14F-4D97-AF65-F5344CB8AC3E}">
        <p14:creationId xmlns:p14="http://schemas.microsoft.com/office/powerpoint/2010/main" val="110050528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2D61241-8725-4010-81B0-E2B4051C529E}"/>
              </a:ext>
            </a:extLst>
          </p:cNvPr>
          <p:cNvSpPr>
            <a:spLocks xmlns:a="http://schemas.openxmlformats.org/drawingml/2006/main" noGrp="1"/>
          </p:cNvSpPr>
          <p:nvPr/>
        </p:nvSpPr>
        <p:spPr>
          <a:xfrm xmlns:a="http://schemas.openxmlformats.org/drawingml/2006/main">
            <a:off x="228600" y="190500"/>
            <a:ext cx="868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800" b="1">
                <a:solidFill>
                  <a:srgbClr val="000000"/>
                </a:solidFill>
                <a:latin typeface="Lexend"/>
                <a:ea typeface="Lexend"/>
                <a:cs typeface="Lexend"/>
              </a:defRPr>
            </a:defPPr>
          </a:lstStyle>
          <a:p xmlns:a="http://schemas.openxmlformats.org/drawingml/2006/main">
            <a:pPr>
              <a:defRPr sz="4800" b="1">
                <a:solidFill>
                  <a:srgbClr val="000000"/>
                </a:solidFill>
                <a:latin typeface="Lexend"/>
                <a:ea typeface="Lexend"/>
                <a:cs typeface="Lexend"/>
              </a:defRPr>
            </a:pPr>
            <a:r>
              <a:rPr sz="4800" b="1">
                <a:solidFill>
                  <a:srgbClr val="000000"/>
                </a:solidFill>
                <a:latin typeface="Lexend"/>
                <a:ea typeface="Lexend"/>
                <a:cs typeface="Lexend"/>
              </a:rPr>
              <a:t>Primary and secondary</a:t>
            </a:r>
          </a:p>
        </p:txBody>
      </p:sp>
      <p:sp>
        <p:nvSpPr>
          <p:cNvPr id="2" name="Lesson content">
            <a:extLst xmlns:a="http://schemas.openxmlformats.org/drawingml/2006/main">
              <a:ext uri="{FF2B5EF4-FFF2-40B4-BE49-F238E27FC236}">
                <a16:creationId xmlns:a16="http://schemas.microsoft.com/office/drawing/2014/main" id="{FA55B6B0-F5C7-4F87-90B3-70688AE3DE8C}"/>
              </a:ext>
            </a:extLst>
          </p:cNvPr>
          <p:cNvSpPr>
            <a:spLocks xmlns:a="http://schemas.openxmlformats.org/drawingml/2006/main" noGrp="1"/>
          </p:cNvSpPr>
          <p:nvPr/>
        </p:nvSpPr>
        <p:spPr>
          <a:xfrm xmlns:a="http://schemas.openxmlformats.org/drawingml/2006/main">
            <a:off x="228600" y="1181100"/>
            <a:ext cx="8686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000" b="0">
                <a:solidFill>
                  <a:srgbClr val="000000"/>
                </a:solidFill>
                <a:latin typeface="Lexend"/>
                <a:ea typeface="Lexend"/>
                <a:cs typeface="Lexend"/>
              </a:defRPr>
            </a:defPPr>
          </a:lstStyle>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Primary: the main goal</a:t>
            </a:r>
          </a:p>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Secondary: an additional goal</a:t>
            </a:r>
          </a:p>
          <a:p xmlns:a="http://schemas.openxmlformats.org/drawingml/2006/main">
            <a:r>
              <a:t/>
            </a:r>
          </a:p>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Both claims need design evidence.</a:t>
            </a:r>
          </a:p>
        </p:txBody>
      </p:sp>
    </p:spTree>
    <p:extLst>
      <p:ext uri="{BB962C8B-B14F-4D97-AF65-F5344CB8AC3E}">
        <p14:creationId xmlns:p14="http://schemas.microsoft.com/office/powerpoint/2010/main" val="110050528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02C3F983-48DE-4925-8EB5-C5E1BD4C02DF}"/>
              </a:ext>
            </a:extLst>
          </p:cNvPr>
          <p:cNvSpPr>
            <a:spLocks xmlns:a="http://schemas.openxmlformats.org/drawingml/2006/main" noGrp="1"/>
          </p:cNvSpPr>
          <p:nvPr/>
        </p:nvSpPr>
        <p:spPr>
          <a:xfrm xmlns:a="http://schemas.openxmlformats.org/drawingml/2006/main">
            <a:off x="228600" y="190500"/>
            <a:ext cx="868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800" b="1">
                <a:solidFill>
                  <a:srgbClr val="000000"/>
                </a:solidFill>
                <a:latin typeface="Lexend"/>
                <a:ea typeface="Lexend"/>
                <a:cs typeface="Lexend"/>
              </a:defRPr>
            </a:defPPr>
          </a:lstStyle>
          <a:p xmlns:a="http://schemas.openxmlformats.org/drawingml/2006/main">
            <a:pPr>
              <a:defRPr sz="4800" b="1">
                <a:solidFill>
                  <a:srgbClr val="000000"/>
                </a:solidFill>
                <a:latin typeface="Lexend"/>
                <a:ea typeface="Lexend"/>
                <a:cs typeface="Lexend"/>
              </a:defRPr>
            </a:pPr>
            <a:r>
              <a:rPr sz="4800" b="1">
                <a:solidFill>
                  <a:srgbClr val="000000"/>
                </a:solidFill>
                <a:latin typeface="Lexend"/>
                <a:ea typeface="Lexend"/>
                <a:cs typeface="Lexend"/>
              </a:rPr>
              <a:t>Questions?</a:t>
            </a:r>
          </a:p>
        </p:txBody>
      </p:sp>
    </p:spTree>
    <p:extLst>
      <p:ext uri="{BB962C8B-B14F-4D97-AF65-F5344CB8AC3E}">
        <p14:creationId xmlns:p14="http://schemas.microsoft.com/office/powerpoint/2010/main" val="110050528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2D0235-31E1-4793-9030-64C7812FEE42}"/>
              </a:ext>
            </a:extLst>
          </p:cNvPr>
          <p:cNvSpPr>
            <a:spLocks xmlns:a="http://schemas.openxmlformats.org/drawingml/2006/main" noGrp="1"/>
          </p:cNvSpPr>
          <p:nvPr/>
        </p:nvSpPr>
        <p:spPr>
          <a:xfrm xmlns:a="http://schemas.openxmlformats.org/drawingml/2006/main">
            <a:off x="228600" y="190500"/>
            <a:ext cx="868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800" b="1">
                <a:solidFill>
                  <a:srgbClr val="000000"/>
                </a:solidFill>
                <a:latin typeface="Lexend"/>
                <a:ea typeface="Lexend"/>
                <a:cs typeface="Lexend"/>
              </a:defRPr>
            </a:defPPr>
          </a:lstStyle>
          <a:p xmlns:a="http://schemas.openxmlformats.org/drawingml/2006/main">
            <a:pPr>
              <a:defRPr sz="4800" b="1">
                <a:solidFill>
                  <a:srgbClr val="000000"/>
                </a:solidFill>
                <a:latin typeface="Lexend"/>
                <a:ea typeface="Lexend"/>
                <a:cs typeface="Lexend"/>
              </a:defRPr>
            </a:pPr>
            <a:r>
              <a:rPr sz="4800" b="1">
                <a:solidFill>
                  <a:srgbClr val="000000"/>
                </a:solidFill>
                <a:latin typeface="Lexend"/>
                <a:ea typeface="Lexend"/>
                <a:cs typeface="Lexend"/>
              </a:rPr>
              <a:t>Checkpoint</a:t>
            </a:r>
          </a:p>
        </p:txBody>
      </p:sp>
      <p:sp>
        <p:nvSpPr>
          <p:cNvPr id="2" name="Lesson content">
            <a:extLst xmlns:a="http://schemas.openxmlformats.org/drawingml/2006/main">
              <a:ext uri="{FF2B5EF4-FFF2-40B4-BE49-F238E27FC236}">
                <a16:creationId xmlns:a16="http://schemas.microsoft.com/office/drawing/2014/main" id="{CB07B171-B601-45F2-83B8-93303D8EEFA9}"/>
              </a:ext>
            </a:extLst>
          </p:cNvPr>
          <p:cNvSpPr>
            <a:spLocks xmlns:a="http://schemas.openxmlformats.org/drawingml/2006/main" noGrp="1"/>
          </p:cNvSpPr>
          <p:nvPr/>
        </p:nvSpPr>
        <p:spPr>
          <a:xfrm xmlns:a="http://schemas.openxmlformats.org/drawingml/2006/main">
            <a:off x="228600" y="1181100"/>
            <a:ext cx="8686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000" b="0">
                <a:solidFill>
                  <a:srgbClr val="000000"/>
                </a:solidFill>
                <a:latin typeface="Lexend"/>
                <a:ea typeface="Lexend"/>
                <a:cs typeface="Lexend"/>
              </a:defRPr>
            </a:defPPr>
          </a:lstStyle>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What number titles the movie about Jackie Robinson?</a:t>
            </a:r>
          </a:p>
        </p:txBody>
      </p:sp>
    </p:spTree>
    <p:extLst>
      <p:ext uri="{BB962C8B-B14F-4D97-AF65-F5344CB8AC3E}">
        <p14:creationId xmlns:p14="http://schemas.microsoft.com/office/powerpoint/2010/main" val="110050528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5A42F2F-1FEC-43D9-9ED6-1381B0BF4616}"/>
              </a:ext>
            </a:extLst>
          </p:cNvPr>
          <p:cNvSpPr>
            <a:spLocks xmlns:a="http://schemas.openxmlformats.org/drawingml/2006/main" noGrp="1"/>
          </p:cNvSpPr>
          <p:nvPr/>
        </p:nvSpPr>
        <p:spPr>
          <a:xfrm xmlns:a="http://schemas.openxmlformats.org/drawingml/2006/main">
            <a:off x="228600" y="190500"/>
            <a:ext cx="868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800" b="1">
                <a:solidFill>
                  <a:srgbClr val="000000"/>
                </a:solidFill>
                <a:latin typeface="Lexend"/>
                <a:ea typeface="Lexend"/>
                <a:cs typeface="Lexend"/>
              </a:defRPr>
            </a:defPPr>
          </a:lstStyle>
          <a:p xmlns:a="http://schemas.openxmlformats.org/drawingml/2006/main">
            <a:pPr>
              <a:defRPr sz="4800" b="1">
                <a:solidFill>
                  <a:srgbClr val="000000"/>
                </a:solidFill>
                <a:latin typeface="Lexend"/>
                <a:ea typeface="Lexend"/>
                <a:cs typeface="Lexend"/>
              </a:defRPr>
            </a:pPr>
            <a:r>
              <a:rPr sz="4800" b="1">
                <a:solidFill>
                  <a:srgbClr val="000000"/>
                </a:solidFill>
                <a:latin typeface="Lexend"/>
                <a:ea typeface="Lexend"/>
                <a:cs typeface="Lexend"/>
              </a:rPr>
              <a:t>Website investigation</a:t>
            </a:r>
          </a:p>
        </p:txBody>
      </p:sp>
      <p:sp>
        <p:nvSpPr>
          <p:cNvPr id="2" name="Lesson content">
            <a:extLst xmlns:a="http://schemas.openxmlformats.org/drawingml/2006/main">
              <a:ext uri="{FF2B5EF4-FFF2-40B4-BE49-F238E27FC236}">
                <a16:creationId xmlns:a16="http://schemas.microsoft.com/office/drawing/2014/main" id="{B3A84E13-5410-4963-84C5-CD5B301CD381}"/>
              </a:ext>
            </a:extLst>
          </p:cNvPr>
          <p:cNvSpPr>
            <a:spLocks xmlns:a="http://schemas.openxmlformats.org/drawingml/2006/main" noGrp="1"/>
          </p:cNvSpPr>
          <p:nvPr/>
        </p:nvSpPr>
        <p:spPr>
          <a:xfrm xmlns:a="http://schemas.openxmlformats.org/drawingml/2006/main">
            <a:off x="228600" y="1181100"/>
            <a:ext cx="8686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000" b="0">
                <a:solidFill>
                  <a:srgbClr val="000000"/>
                </a:solidFill>
                <a:latin typeface="Lexend"/>
                <a:ea typeface="Lexend"/>
                <a:cs typeface="Lexend"/>
              </a:defRPr>
            </a:defPPr>
          </a:lstStyle>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What is your assigned site’s primary purpose?</a:t>
            </a:r>
          </a:p>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Which design choices provide the strongest evidence?</a:t>
            </a:r>
          </a:p>
        </p:txBody>
      </p:sp>
    </p:spTree>
    <p:extLst>
      <p:ext uri="{BB962C8B-B14F-4D97-AF65-F5344CB8AC3E}">
        <p14:creationId xmlns:p14="http://schemas.microsoft.com/office/powerpoint/2010/main" val="110050528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2D03688-F845-4149-802C-5130F8B500E5}"/>
              </a:ext>
            </a:extLst>
          </p:cNvPr>
          <p:cNvSpPr>
            <a:spLocks xmlns:a="http://schemas.openxmlformats.org/drawingml/2006/main" noGrp="1"/>
          </p:cNvSpPr>
          <p:nvPr/>
        </p:nvSpPr>
        <p:spPr>
          <a:xfrm xmlns:a="http://schemas.openxmlformats.org/drawingml/2006/main">
            <a:off x="228600" y="190500"/>
            <a:ext cx="868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800" b="1">
                <a:solidFill>
                  <a:srgbClr val="000000"/>
                </a:solidFill>
                <a:latin typeface="Lexend"/>
                <a:ea typeface="Lexend"/>
                <a:cs typeface="Lexend"/>
              </a:defRPr>
            </a:defPPr>
          </a:lstStyle>
          <a:p xmlns:a="http://schemas.openxmlformats.org/drawingml/2006/main">
            <a:pPr>
              <a:defRPr sz="4800" b="1">
                <a:solidFill>
                  <a:srgbClr val="000000"/>
                </a:solidFill>
                <a:latin typeface="Lexend"/>
                <a:ea typeface="Lexend"/>
                <a:cs typeface="Lexend"/>
              </a:defRPr>
            </a:pPr>
            <a:r>
              <a:rPr sz="4800" b="1">
                <a:solidFill>
                  <a:srgbClr val="000000"/>
                </a:solidFill>
                <a:latin typeface="Lexend"/>
                <a:ea typeface="Lexend"/>
                <a:cs typeface="Lexend"/>
              </a:rPr>
              <a:t>A strong explanation</a:t>
            </a:r>
          </a:p>
        </p:txBody>
      </p:sp>
      <p:sp>
        <p:nvSpPr>
          <p:cNvPr id="2" name="Lesson content">
            <a:extLst xmlns:a="http://schemas.openxmlformats.org/drawingml/2006/main">
              <a:ext uri="{FF2B5EF4-FFF2-40B4-BE49-F238E27FC236}">
                <a16:creationId xmlns:a16="http://schemas.microsoft.com/office/drawing/2014/main" id="{5B06706E-C75E-4864-9399-A4F894C0993D}"/>
              </a:ext>
            </a:extLst>
          </p:cNvPr>
          <p:cNvSpPr>
            <a:spLocks xmlns:a="http://schemas.openxmlformats.org/drawingml/2006/main" noGrp="1"/>
          </p:cNvSpPr>
          <p:nvPr/>
        </p:nvSpPr>
        <p:spPr>
          <a:xfrm xmlns:a="http://schemas.openxmlformats.org/drawingml/2006/main">
            <a:off x="228600" y="1181100"/>
            <a:ext cx="8686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000" b="0">
                <a:solidFill>
                  <a:srgbClr val="000000"/>
                </a:solidFill>
                <a:latin typeface="Lexend"/>
                <a:ea typeface="Lexend"/>
                <a:cs typeface="Lexend"/>
              </a:defRPr>
            </a:defPPr>
          </a:lstStyle>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“It is sales because it has products.”</a:t>
            </a:r>
          </a:p>
          <a:p xmlns:a="http://schemas.openxmlformats.org/drawingml/2006/main">
            <a:r>
              <a:t/>
            </a:r>
          </a:p>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Which feature? Which CSSA category?</a:t>
            </a:r>
          </a:p>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How does it help someone buy?</a:t>
            </a:r>
          </a:p>
        </p:txBody>
      </p:sp>
    </p:spTree>
    <p:extLst>
      <p:ext uri="{BB962C8B-B14F-4D97-AF65-F5344CB8AC3E}">
        <p14:creationId xmlns:p14="http://schemas.microsoft.com/office/powerpoint/2010/main" val="110050528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ED509C4-B94E-49E4-8C0A-758590A8BF4A}"/>
              </a:ext>
            </a:extLst>
          </p:cNvPr>
          <p:cNvSpPr>
            <a:spLocks xmlns:a="http://schemas.openxmlformats.org/drawingml/2006/main" noGrp="1"/>
          </p:cNvSpPr>
          <p:nvPr/>
        </p:nvSpPr>
        <p:spPr>
          <a:xfrm xmlns:a="http://schemas.openxmlformats.org/drawingml/2006/main">
            <a:off x="228600" y="190500"/>
            <a:ext cx="868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800" b="1">
                <a:solidFill>
                  <a:srgbClr val="000000"/>
                </a:solidFill>
                <a:latin typeface="Lexend"/>
                <a:ea typeface="Lexend"/>
                <a:cs typeface="Lexend"/>
              </a:defRPr>
            </a:defPPr>
          </a:lstStyle>
          <a:p xmlns:a="http://schemas.openxmlformats.org/drawingml/2006/main">
            <a:pPr>
              <a:defRPr sz="4800" b="1">
                <a:solidFill>
                  <a:srgbClr val="000000"/>
                </a:solidFill>
                <a:latin typeface="Lexend"/>
                <a:ea typeface="Lexend"/>
                <a:cs typeface="Lexend"/>
              </a:defRPr>
            </a:pPr>
            <a:r>
              <a:rPr sz="4800" b="1">
                <a:solidFill>
                  <a:srgbClr val="000000"/>
                </a:solidFill>
                <a:latin typeface="Lexend"/>
                <a:ea typeface="Lexend"/>
                <a:cs typeface="Lexend"/>
              </a:rPr>
              <a:t>Evidence you can defend</a:t>
            </a:r>
          </a:p>
        </p:txBody>
      </p:sp>
      <p:sp>
        <p:nvSpPr>
          <p:cNvPr id="2" name="Lesson content">
            <a:extLst xmlns:a="http://schemas.openxmlformats.org/drawingml/2006/main">
              <a:ext uri="{FF2B5EF4-FFF2-40B4-BE49-F238E27FC236}">
                <a16:creationId xmlns:a16="http://schemas.microsoft.com/office/drawing/2014/main" id="{0DDE1F28-39FF-44A8-993B-FA952B7A47CE}"/>
              </a:ext>
            </a:extLst>
          </p:cNvPr>
          <p:cNvSpPr>
            <a:spLocks xmlns:a="http://schemas.openxmlformats.org/drawingml/2006/main" noGrp="1"/>
          </p:cNvSpPr>
          <p:nvPr/>
        </p:nvSpPr>
        <p:spPr>
          <a:xfrm xmlns:a="http://schemas.openxmlformats.org/drawingml/2006/main">
            <a:off x="228600" y="1181100"/>
            <a:ext cx="8686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000" b="0">
                <a:solidFill>
                  <a:srgbClr val="000000"/>
                </a:solidFill>
                <a:latin typeface="Lexend"/>
                <a:ea typeface="Lexend"/>
                <a:cs typeface="Lexend"/>
              </a:defRPr>
            </a:defPPr>
          </a:lstStyle>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Annotation #4 shows the price and reviews.</a:t>
            </a:r>
          </a:p>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These Content choices help visitors compare products and decide what to buy.</a:t>
            </a:r>
          </a:p>
        </p:txBody>
      </p:sp>
    </p:spTree>
    <p:extLst>
      <p:ext uri="{BB962C8B-B14F-4D97-AF65-F5344CB8AC3E}">
        <p14:creationId xmlns:p14="http://schemas.microsoft.com/office/powerpoint/2010/main" val="110050528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B51FA6A-1DB3-4BA6-8299-BDCC841503E2}"/>
              </a:ext>
            </a:extLst>
          </p:cNvPr>
          <p:cNvSpPr>
            <a:spLocks xmlns:a="http://schemas.openxmlformats.org/drawingml/2006/main" noGrp="1"/>
          </p:cNvSpPr>
          <p:nvPr/>
        </p:nvSpPr>
        <p:spPr>
          <a:xfrm xmlns:a="http://schemas.openxmlformats.org/drawingml/2006/main">
            <a:off x="228600" y="190500"/>
            <a:ext cx="868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800" b="1">
                <a:solidFill>
                  <a:srgbClr val="000000"/>
                </a:solidFill>
                <a:latin typeface="Lexend"/>
                <a:ea typeface="Lexend"/>
                <a:cs typeface="Lexend"/>
              </a:defRPr>
            </a:defPPr>
          </a:lstStyle>
          <a:p xmlns:a="http://schemas.openxmlformats.org/drawingml/2006/main">
            <a:pPr>
              <a:defRPr sz="4800" b="1">
                <a:solidFill>
                  <a:srgbClr val="000000"/>
                </a:solidFill>
                <a:latin typeface="Lexend"/>
                <a:ea typeface="Lexend"/>
                <a:cs typeface="Lexend"/>
              </a:defRPr>
            </a:pPr>
            <a:r>
              <a:rPr sz="4800" b="1">
                <a:solidFill>
                  <a:srgbClr val="000000"/>
                </a:solidFill>
                <a:latin typeface="Lexend"/>
                <a:ea typeface="Lexend"/>
                <a:cs typeface="Lexend"/>
              </a:rPr>
              <a:t>Checkpoint</a:t>
            </a:r>
          </a:p>
        </p:txBody>
      </p:sp>
      <p:sp>
        <p:nvSpPr>
          <p:cNvPr id="2" name="Lesson content">
            <a:extLst xmlns:a="http://schemas.openxmlformats.org/drawingml/2006/main">
              <a:ext uri="{FF2B5EF4-FFF2-40B4-BE49-F238E27FC236}">
                <a16:creationId xmlns:a16="http://schemas.microsoft.com/office/drawing/2014/main" id="{5CEE8A13-22FF-4BE2-AADF-5D8B3BA75AF7}"/>
              </a:ext>
            </a:extLst>
          </p:cNvPr>
          <p:cNvSpPr>
            <a:spLocks xmlns:a="http://schemas.openxmlformats.org/drawingml/2006/main" noGrp="1"/>
          </p:cNvSpPr>
          <p:nvPr/>
        </p:nvSpPr>
        <p:spPr>
          <a:xfrm xmlns:a="http://schemas.openxmlformats.org/drawingml/2006/main">
            <a:off x="228600" y="1181100"/>
            <a:ext cx="8686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000" b="0">
                <a:solidFill>
                  <a:srgbClr val="000000"/>
                </a:solidFill>
                <a:latin typeface="Lexend"/>
                <a:ea typeface="Lexend"/>
                <a:cs typeface="Lexend"/>
              </a:defRPr>
            </a:defPPr>
          </a:lstStyle>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What number titles the movie about the Spartans at Thermopylae?</a:t>
            </a:r>
          </a:p>
        </p:txBody>
      </p:sp>
    </p:spTree>
    <p:extLst>
      <p:ext uri="{BB962C8B-B14F-4D97-AF65-F5344CB8AC3E}">
        <p14:creationId xmlns:p14="http://schemas.microsoft.com/office/powerpoint/2010/main" val="110050528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5710C2D-FAC1-4081-AAE2-4E8C124405F8}"/>
              </a:ext>
            </a:extLst>
          </p:cNvPr>
          <p:cNvSpPr>
            <a:spLocks xmlns:a="http://schemas.openxmlformats.org/drawingml/2006/main" noGrp="1"/>
          </p:cNvSpPr>
          <p:nvPr/>
        </p:nvSpPr>
        <p:spPr>
          <a:xfrm xmlns:a="http://schemas.openxmlformats.org/drawingml/2006/main">
            <a:off x="228600" y="190500"/>
            <a:ext cx="868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800" b="1">
                <a:solidFill>
                  <a:srgbClr val="000000"/>
                </a:solidFill>
                <a:latin typeface="Lexend"/>
                <a:ea typeface="Lexend"/>
                <a:cs typeface="Lexend"/>
              </a:defRPr>
            </a:defPPr>
          </a:lstStyle>
          <a:p xmlns:a="http://schemas.openxmlformats.org/drawingml/2006/main">
            <a:pPr>
              <a:defRPr sz="4800" b="1">
                <a:solidFill>
                  <a:srgbClr val="000000"/>
                </a:solidFill>
                <a:latin typeface="Lexend"/>
                <a:ea typeface="Lexend"/>
                <a:cs typeface="Lexend"/>
              </a:defRPr>
            </a:pPr>
            <a:r>
              <a:rPr sz="4800" b="1">
                <a:solidFill>
                  <a:srgbClr val="000000"/>
                </a:solidFill>
                <a:latin typeface="Lexend"/>
                <a:ea typeface="Lexend"/>
                <a:cs typeface="Lexend"/>
              </a:rPr>
              <a:t>Discussion</a:t>
            </a:r>
          </a:p>
        </p:txBody>
      </p:sp>
      <p:sp>
        <p:nvSpPr>
          <p:cNvPr id="2" name="Lesson content">
            <a:extLst xmlns:a="http://schemas.openxmlformats.org/drawingml/2006/main">
              <a:ext uri="{FF2B5EF4-FFF2-40B4-BE49-F238E27FC236}">
                <a16:creationId xmlns:a16="http://schemas.microsoft.com/office/drawing/2014/main" id="{67D06EB4-CD5E-4264-9148-687D1F73D49D}"/>
              </a:ext>
            </a:extLst>
          </p:cNvPr>
          <p:cNvSpPr>
            <a:spLocks xmlns:a="http://schemas.openxmlformats.org/drawingml/2006/main" noGrp="1"/>
          </p:cNvSpPr>
          <p:nvPr/>
        </p:nvSpPr>
        <p:spPr>
          <a:xfrm xmlns:a="http://schemas.openxmlformats.org/drawingml/2006/main">
            <a:off x="228600" y="1181100"/>
            <a:ext cx="8686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000" b="0">
                <a:solidFill>
                  <a:srgbClr val="000000"/>
                </a:solidFill>
                <a:latin typeface="Lexend"/>
                <a:ea typeface="Lexend"/>
                <a:cs typeface="Lexend"/>
              </a:defRPr>
            </a:defPPr>
          </a:lstStyle>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Which piece of evidence best supports your table’s claim?</a:t>
            </a:r>
          </a:p>
          <a:p xmlns:a="http://schemas.openxmlformats.org/drawingml/2006/main">
            <a:r>
              <a:t/>
            </a:r>
          </a:p>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Show the feature. Explain how it helps the site achieve its purpose.</a:t>
            </a:r>
          </a:p>
        </p:txBody>
      </p:sp>
    </p:spTree>
    <p:extLst>
      <p:ext uri="{BB962C8B-B14F-4D97-AF65-F5344CB8AC3E}">
        <p14:creationId xmlns:p14="http://schemas.microsoft.com/office/powerpoint/2010/main" val="111396750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6909D5-53A9-44CA-943C-85543C50B87E}"/>
              </a:ext>
            </a:extLst>
          </p:cNvPr>
          <p:cNvSpPr>
            <a:spLocks xmlns:a="http://schemas.openxmlformats.org/drawingml/2006/main" noGrp="1"/>
          </p:cNvSpPr>
          <p:nvPr/>
        </p:nvSpPr>
        <p:spPr>
          <a:xfrm xmlns:a="http://schemas.openxmlformats.org/drawingml/2006/main">
            <a:off x="228600" y="190500"/>
            <a:ext cx="868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800" b="1">
                <a:solidFill>
                  <a:srgbClr val="000000"/>
                </a:solidFill>
                <a:latin typeface="Lexend"/>
                <a:ea typeface="Lexend"/>
                <a:cs typeface="Lexend"/>
              </a:defRPr>
            </a:defPPr>
          </a:lstStyle>
          <a:p xmlns:a="http://schemas.openxmlformats.org/drawingml/2006/main">
            <a:pPr>
              <a:defRPr sz="4800" b="1">
                <a:solidFill>
                  <a:srgbClr val="000000"/>
                </a:solidFill>
                <a:latin typeface="Lexend"/>
                <a:ea typeface="Lexend"/>
                <a:cs typeface="Lexend"/>
              </a:defRPr>
            </a:pPr>
            <a:r>
              <a:rPr sz="4800" b="1">
                <a:solidFill>
                  <a:srgbClr val="000000"/>
                </a:solidFill>
                <a:latin typeface="Lexend"/>
                <a:ea typeface="Lexend"/>
                <a:cs typeface="Lexend"/>
              </a:rPr>
              <a:t>Checkpoint</a:t>
            </a:r>
          </a:p>
        </p:txBody>
      </p:sp>
      <p:sp>
        <p:nvSpPr>
          <p:cNvPr id="2" name="Lesson content">
            <a:extLst xmlns:a="http://schemas.openxmlformats.org/drawingml/2006/main">
              <a:ext uri="{FF2B5EF4-FFF2-40B4-BE49-F238E27FC236}">
                <a16:creationId xmlns:a16="http://schemas.microsoft.com/office/drawing/2014/main" id="{B6526852-6A39-47CA-B448-9E32DB07066A}"/>
              </a:ext>
            </a:extLst>
          </p:cNvPr>
          <p:cNvSpPr>
            <a:spLocks xmlns:a="http://schemas.openxmlformats.org/drawingml/2006/main" noGrp="1"/>
          </p:cNvSpPr>
          <p:nvPr/>
        </p:nvSpPr>
        <p:spPr>
          <a:xfrm xmlns:a="http://schemas.openxmlformats.org/drawingml/2006/main">
            <a:off x="228600" y="1181100"/>
            <a:ext cx="8686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000" b="0">
                <a:solidFill>
                  <a:srgbClr val="000000"/>
                </a:solidFill>
                <a:latin typeface="Lexend"/>
                <a:ea typeface="Lexend"/>
                <a:cs typeface="Lexend"/>
              </a:defRPr>
            </a:defPPr>
          </a:lstStyle>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Which mathematical constant names the thriller about a mathematician searching for patterns?</a:t>
            </a:r>
          </a:p>
        </p:txBody>
      </p:sp>
    </p:spTree>
    <p:extLst>
      <p:ext uri="{BB962C8B-B14F-4D97-AF65-F5344CB8AC3E}">
        <p14:creationId xmlns:p14="http://schemas.microsoft.com/office/powerpoint/2010/main" val="110050528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3ECB95-E9A7-47DA-BC57-54E2F9F4C823}"/>
              </a:ext>
            </a:extLst>
          </p:cNvPr>
          <p:cNvSpPr>
            <a:spLocks xmlns:a="http://schemas.openxmlformats.org/drawingml/2006/main" noGrp="1"/>
          </p:cNvSpPr>
          <p:nvPr/>
        </p:nvSpPr>
        <p:spPr>
          <a:xfrm xmlns:a="http://schemas.openxmlformats.org/drawingml/2006/main">
            <a:off x="228600" y="190500"/>
            <a:ext cx="868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800" b="1">
                <a:solidFill>
                  <a:srgbClr val="000000"/>
                </a:solidFill>
                <a:latin typeface="Lexend"/>
                <a:ea typeface="Lexend"/>
                <a:cs typeface="Lexend"/>
              </a:defRPr>
            </a:defPPr>
          </a:lstStyle>
          <a:p xmlns:a="http://schemas.openxmlformats.org/drawingml/2006/main">
            <a:pPr>
              <a:defRPr sz="4800" b="1">
                <a:solidFill>
                  <a:srgbClr val="000000"/>
                </a:solidFill>
                <a:latin typeface="Lexend"/>
                <a:ea typeface="Lexend"/>
                <a:cs typeface="Lexend"/>
              </a:defRPr>
            </a:pPr>
            <a:r>
              <a:rPr sz="4800" b="1">
                <a:solidFill>
                  <a:srgbClr val="000000"/>
                </a:solidFill>
                <a:latin typeface="Lexend"/>
                <a:ea typeface="Lexend"/>
                <a:cs typeface="Lexend"/>
              </a:rPr>
              <a:t>The big idea</a:t>
            </a:r>
          </a:p>
        </p:txBody>
      </p:sp>
      <p:sp>
        <p:nvSpPr>
          <p:cNvPr id="2" name="Lesson content">
            <a:extLst xmlns:a="http://schemas.openxmlformats.org/drawingml/2006/main">
              <a:ext uri="{FF2B5EF4-FFF2-40B4-BE49-F238E27FC236}">
                <a16:creationId xmlns:a16="http://schemas.microsoft.com/office/drawing/2014/main" id="{B8A71FAD-2F37-4982-8453-4771C83AF400}"/>
              </a:ext>
            </a:extLst>
          </p:cNvPr>
          <p:cNvSpPr>
            <a:spLocks xmlns:a="http://schemas.openxmlformats.org/drawingml/2006/main" noGrp="1"/>
          </p:cNvSpPr>
          <p:nvPr/>
        </p:nvSpPr>
        <p:spPr>
          <a:xfrm xmlns:a="http://schemas.openxmlformats.org/drawingml/2006/main">
            <a:off x="228600" y="1181100"/>
            <a:ext cx="8686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000" b="0">
                <a:solidFill>
                  <a:srgbClr val="000000"/>
                </a:solidFill>
                <a:latin typeface="Lexend"/>
                <a:ea typeface="Lexend"/>
                <a:cs typeface="Lexend"/>
              </a:defRPr>
            </a:defPPr>
          </a:lstStyle>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CSSA tells us what goes into designing a website.</a:t>
            </a:r>
          </a:p>
          <a:p xmlns:a="http://schemas.openxmlformats.org/drawingml/2006/main">
            <a:r>
              <a:t/>
            </a:r>
          </a:p>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Purpose tells us why designers make those choices.</a:t>
            </a:r>
          </a:p>
        </p:txBody>
      </p:sp>
    </p:spTree>
    <p:extLst>
      <p:ext uri="{BB962C8B-B14F-4D97-AF65-F5344CB8AC3E}">
        <p14:creationId xmlns:p14="http://schemas.microsoft.com/office/powerpoint/2010/main" val="437433170"/>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5C9DDF8-9E50-45AB-B5EF-AC9328FEBB51}"/>
              </a:ext>
            </a:extLst>
          </p:cNvPr>
          <p:cNvSpPr>
            <a:spLocks xmlns:a="http://schemas.openxmlformats.org/drawingml/2006/main" noGrp="1"/>
          </p:cNvSpPr>
          <p:nvPr/>
        </p:nvSpPr>
        <p:spPr>
          <a:xfrm xmlns:a="http://schemas.openxmlformats.org/drawingml/2006/main">
            <a:off x="228600" y="190500"/>
            <a:ext cx="868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200" b="1">
                <a:solidFill>
                  <a:srgbClr val="000000"/>
                </a:solidFill>
                <a:latin typeface="Lexend"/>
                <a:ea typeface="Lexend"/>
                <a:cs typeface="Lexend"/>
              </a:defRPr>
            </a:defPPr>
          </a:lstStyle>
          <a:p xmlns:a="http://schemas.openxmlformats.org/drawingml/2006/main">
            <a:pPr>
              <a:defRPr sz="4200" b="1">
                <a:solidFill>
                  <a:srgbClr val="000000"/>
                </a:solidFill>
                <a:latin typeface="Lexend"/>
                <a:ea typeface="Lexend"/>
                <a:cs typeface="Lexend"/>
              </a:defRPr>
            </a:pPr>
            <a:r>
              <a:rPr sz="4200" b="1">
                <a:solidFill>
                  <a:srgbClr val="000000"/>
                </a:solidFill>
                <a:latin typeface="Lexend"/>
                <a:ea typeface="Lexend"/>
                <a:cs typeface="Lexend"/>
              </a:rPr>
              <a:t>Same feature, different goals</a:t>
            </a:r>
          </a:p>
        </p:txBody>
      </p:sp>
      <p:sp>
        <p:nvSpPr>
          <p:cNvPr id="2" name="Lesson content">
            <a:extLst xmlns:a="http://schemas.openxmlformats.org/drawingml/2006/main">
              <a:ext uri="{FF2B5EF4-FFF2-40B4-BE49-F238E27FC236}">
                <a16:creationId xmlns:a16="http://schemas.microsoft.com/office/drawing/2014/main" id="{CC52166B-5ACA-4657-9568-58CF23F45D6C}"/>
              </a:ext>
            </a:extLst>
          </p:cNvPr>
          <p:cNvSpPr>
            <a:spLocks xmlns:a="http://schemas.openxmlformats.org/drawingml/2006/main" noGrp="1"/>
          </p:cNvSpPr>
          <p:nvPr/>
        </p:nvSpPr>
        <p:spPr>
          <a:xfrm xmlns:a="http://schemas.openxmlformats.org/drawingml/2006/main">
            <a:off x="228600" y="1181100"/>
            <a:ext cx="8686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000" b="0">
                <a:solidFill>
                  <a:srgbClr val="000000"/>
                </a:solidFill>
                <a:latin typeface="Lexend"/>
                <a:ea typeface="Lexend"/>
                <a:cs typeface="Lexend"/>
              </a:defRPr>
            </a:defPPr>
          </a:lstStyle>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An article. A video. A product.</a:t>
            </a:r>
          </a:p>
          <a:p xmlns:a="http://schemas.openxmlformats.org/drawingml/2006/main">
            <a:r>
              <a:t/>
            </a:r>
          </a:p>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The search bar is similar.</a:t>
            </a:r>
          </a:p>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The visitor’s goal is different.</a:t>
            </a:r>
          </a:p>
        </p:txBody>
      </p:sp>
    </p:spTree>
    <p:extLst>
      <p:ext uri="{BB962C8B-B14F-4D97-AF65-F5344CB8AC3E}">
        <p14:creationId xmlns:p14="http://schemas.microsoft.com/office/powerpoint/2010/main" val="1100505285"/>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CCE4938-AC06-49F1-855E-A658244E1698}"/>
              </a:ext>
            </a:extLst>
          </p:cNvPr>
          <p:cNvSpPr>
            <a:spLocks xmlns:a="http://schemas.openxmlformats.org/drawingml/2006/main" noGrp="1"/>
          </p:cNvSpPr>
          <p:nvPr/>
        </p:nvSpPr>
        <p:spPr>
          <a:xfrm xmlns:a="http://schemas.openxmlformats.org/drawingml/2006/main">
            <a:off x="228600" y="190500"/>
            <a:ext cx="868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200" b="1">
                <a:solidFill>
                  <a:srgbClr val="000000"/>
                </a:solidFill>
                <a:latin typeface="Lexend"/>
                <a:ea typeface="Lexend"/>
                <a:cs typeface="Lexend"/>
              </a:defRPr>
            </a:defPPr>
          </a:lstStyle>
          <a:p xmlns:a="http://schemas.openxmlformats.org/drawingml/2006/main">
            <a:pPr>
              <a:defRPr sz="4200" b="1">
                <a:solidFill>
                  <a:srgbClr val="000000"/>
                </a:solidFill>
                <a:latin typeface="Lexend"/>
                <a:ea typeface="Lexend"/>
                <a:cs typeface="Lexend"/>
              </a:defRPr>
            </a:pPr>
            <a:r>
              <a:rPr sz="4200" b="1">
                <a:solidFill>
                  <a:srgbClr val="000000"/>
                </a:solidFill>
                <a:latin typeface="Lexend"/>
                <a:ea typeface="Lexend"/>
                <a:cs typeface="Lexend"/>
              </a:rPr>
              <a:t>Accessibility and purpose</a:t>
            </a:r>
          </a:p>
        </p:txBody>
      </p:sp>
      <p:sp>
        <p:nvSpPr>
          <p:cNvPr id="2" name="Lesson content">
            <a:extLst xmlns:a="http://schemas.openxmlformats.org/drawingml/2006/main">
              <a:ext uri="{FF2B5EF4-FFF2-40B4-BE49-F238E27FC236}">
                <a16:creationId xmlns:a16="http://schemas.microsoft.com/office/drawing/2014/main" id="{10486174-2595-418A-9B43-C4F426EB3D33}"/>
              </a:ext>
            </a:extLst>
          </p:cNvPr>
          <p:cNvSpPr>
            <a:spLocks xmlns:a="http://schemas.openxmlformats.org/drawingml/2006/main" noGrp="1"/>
          </p:cNvSpPr>
          <p:nvPr/>
        </p:nvSpPr>
        <p:spPr>
          <a:xfrm xmlns:a="http://schemas.openxmlformats.org/drawingml/2006/main">
            <a:off x="228600" y="1181100"/>
            <a:ext cx="8686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000" b="0">
                <a:solidFill>
                  <a:srgbClr val="000000"/>
                </a:solidFill>
                <a:latin typeface="Lexend"/>
                <a:ea typeface="Lexend"/>
                <a:cs typeface="Lexend"/>
              </a:defRPr>
            </a:defPPr>
          </a:lstStyle>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Captions help more people enjoy a video.</a:t>
            </a:r>
          </a:p>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Image descriptions help more people understand an image.</a:t>
            </a:r>
          </a:p>
        </p:txBody>
      </p:sp>
    </p:spTree>
    <p:extLst>
      <p:ext uri="{BB962C8B-B14F-4D97-AF65-F5344CB8AC3E}">
        <p14:creationId xmlns:p14="http://schemas.microsoft.com/office/powerpoint/2010/main" val="1100505285"/>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1F4142B-1088-48AE-A807-40D471E1CD46}"/>
              </a:ext>
            </a:extLst>
          </p:cNvPr>
          <p:cNvSpPr>
            <a:spLocks xmlns:a="http://schemas.openxmlformats.org/drawingml/2006/main" noGrp="1"/>
          </p:cNvSpPr>
          <p:nvPr/>
        </p:nvSpPr>
        <p:spPr>
          <a:xfrm xmlns:a="http://schemas.openxmlformats.org/drawingml/2006/main">
            <a:off x="228600" y="190500"/>
            <a:ext cx="868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800" b="1">
                <a:solidFill>
                  <a:srgbClr val="000000"/>
                </a:solidFill>
                <a:latin typeface="Lexend"/>
                <a:ea typeface="Lexend"/>
                <a:cs typeface="Lexend"/>
              </a:defRPr>
            </a:defPPr>
          </a:lstStyle>
          <a:p xmlns:a="http://schemas.openxmlformats.org/drawingml/2006/main">
            <a:pPr>
              <a:defRPr sz="4800" b="1">
                <a:solidFill>
                  <a:srgbClr val="000000"/>
                </a:solidFill>
                <a:latin typeface="Lexend"/>
                <a:ea typeface="Lexend"/>
                <a:cs typeface="Lexend"/>
              </a:defRPr>
            </a:pPr>
            <a:r>
              <a:rPr sz="4800" b="1">
                <a:solidFill>
                  <a:srgbClr val="000000"/>
                </a:solidFill>
                <a:latin typeface="Lexend"/>
                <a:ea typeface="Lexend"/>
                <a:cs typeface="Lexend"/>
              </a:rPr>
              <a:t>Exit Ticket</a:t>
            </a:r>
          </a:p>
        </p:txBody>
      </p:sp>
      <p:sp>
        <p:nvSpPr>
          <p:cNvPr id="2" name="Lesson content">
            <a:extLst xmlns:a="http://schemas.openxmlformats.org/drawingml/2006/main">
              <a:ext uri="{FF2B5EF4-FFF2-40B4-BE49-F238E27FC236}">
                <a16:creationId xmlns:a16="http://schemas.microsoft.com/office/drawing/2014/main" id="{68DF7DF3-BA5F-4E3B-8D6A-9DBB80F29467}"/>
              </a:ext>
            </a:extLst>
          </p:cNvPr>
          <p:cNvSpPr>
            <a:spLocks xmlns:a="http://schemas.openxmlformats.org/drawingml/2006/main" noGrp="1"/>
          </p:cNvSpPr>
          <p:nvPr/>
        </p:nvSpPr>
        <p:spPr>
          <a:xfrm xmlns:a="http://schemas.openxmlformats.org/drawingml/2006/main">
            <a:off x="228600" y="1181100"/>
            <a:ext cx="8686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000" b="0">
                <a:solidFill>
                  <a:srgbClr val="000000"/>
                </a:solidFill>
                <a:latin typeface="Lexend"/>
                <a:ea typeface="Lexend"/>
                <a:cs typeface="Lexend"/>
              </a:defRPr>
            </a:defPPr>
          </a:lstStyle>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Wikipedia and Amazon both use search bars.</a:t>
            </a:r>
          </a:p>
          <a:p xmlns:a="http://schemas.openxmlformats.org/drawingml/2006/main">
            <a:r>
              <a:t/>
            </a:r>
          </a:p>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How does the same feature help each website achieve a different purpose?</a:t>
            </a:r>
          </a:p>
        </p:txBody>
      </p:sp>
    </p:spTree>
    <p:extLst>
      <p:ext uri="{BB962C8B-B14F-4D97-AF65-F5344CB8AC3E}">
        <p14:creationId xmlns:p14="http://schemas.microsoft.com/office/powerpoint/2010/main" val="110050528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2F56203-5E15-4A9F-850C-05BA97789706}"/>
              </a:ext>
            </a:extLst>
          </p:cNvPr>
          <p:cNvSpPr>
            <a:spLocks xmlns:a="http://schemas.openxmlformats.org/drawingml/2006/main" noGrp="1"/>
          </p:cNvSpPr>
          <p:nvPr/>
        </p:nvSpPr>
        <p:spPr>
          <a:xfrm xmlns:a="http://schemas.openxmlformats.org/drawingml/2006/main">
            <a:off x="228600" y="190500"/>
            <a:ext cx="868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800" b="1">
                <a:solidFill>
                  <a:srgbClr val="000000"/>
                </a:solidFill>
                <a:latin typeface="Lexend"/>
                <a:ea typeface="Lexend"/>
                <a:cs typeface="Lexend"/>
              </a:defRPr>
            </a:defPPr>
          </a:lstStyle>
          <a:p xmlns:a="http://schemas.openxmlformats.org/drawingml/2006/main">
            <a:pPr>
              <a:defRPr sz="4800" b="1">
                <a:solidFill>
                  <a:srgbClr val="000000"/>
                </a:solidFill>
                <a:latin typeface="Lexend"/>
                <a:ea typeface="Lexend"/>
                <a:cs typeface="Lexend"/>
              </a:defRPr>
            </a:pPr>
            <a:r>
              <a:rPr sz="4800" b="1">
                <a:solidFill>
                  <a:srgbClr val="000000"/>
                </a:solidFill>
                <a:latin typeface="Lexend"/>
                <a:ea typeface="Lexend"/>
                <a:cs typeface="Lexend"/>
              </a:rPr>
              <a:t>Submit</a:t>
            </a:r>
          </a:p>
        </p:txBody>
      </p:sp>
      <p:sp>
        <p:nvSpPr>
          <p:cNvPr id="2" name="Lesson content">
            <a:extLst xmlns:a="http://schemas.openxmlformats.org/drawingml/2006/main">
              <a:ext uri="{FF2B5EF4-FFF2-40B4-BE49-F238E27FC236}">
                <a16:creationId xmlns:a16="http://schemas.microsoft.com/office/drawing/2014/main" id="{E52057FE-DD31-4F47-8A64-72D8DE31D460}"/>
              </a:ext>
            </a:extLst>
          </p:cNvPr>
          <p:cNvSpPr>
            <a:spLocks xmlns:a="http://schemas.openxmlformats.org/drawingml/2006/main" noGrp="1"/>
          </p:cNvSpPr>
          <p:nvPr/>
        </p:nvSpPr>
        <p:spPr>
          <a:xfrm xmlns:a="http://schemas.openxmlformats.org/drawingml/2006/main">
            <a:off x="228600" y="1181100"/>
            <a:ext cx="8686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000" b="0">
                <a:solidFill>
                  <a:srgbClr val="000000"/>
                </a:solidFill>
                <a:latin typeface="Lexend"/>
                <a:ea typeface="Lexend"/>
                <a:cs typeface="Lexend"/>
              </a:defRPr>
            </a:defPPr>
          </a:lstStyle>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Download your complete work.</a:t>
            </a:r>
          </a:p>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Attach it where your teacher directs.</a:t>
            </a:r>
          </a:p>
          <a:p xmlns:a="http://schemas.openxmlformats.org/drawingml/2006/main">
            <a:pPr>
              <a:defRPr sz="3000" b="0">
                <a:solidFill>
                  <a:srgbClr val="000000"/>
                </a:solidFill>
                <a:latin typeface="Lexend"/>
                <a:ea typeface="Lexend"/>
                <a:cs typeface="Lexend"/>
              </a:defRPr>
            </a:pPr>
            <a:r>
              <a:rPr sz="3000" b="0">
                <a:solidFill>
                  <a:srgbClr val="000000"/>
                </a:solidFill>
                <a:latin typeface="Lexend"/>
                <a:ea typeface="Lexend"/>
                <a:cs typeface="Lexend"/>
              </a:rPr>
              <a:t>Keep your copy until receipt is confirmed.</a:t>
            </a:r>
          </a:p>
        </p:txBody>
      </p:sp>
    </p:spTree>
    <p:extLst>
      <p:ext uri="{BB962C8B-B14F-4D97-AF65-F5344CB8AC3E}">
        <p14:creationId xmlns:p14="http://schemas.microsoft.com/office/powerpoint/2010/main" val="1100505285"/>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2026-10-16T04:59:30.1520000Z</dcterms:created>
  <dcterms:modified xsi:type="dcterms:W3CDTF">2026-10-16T04:59:30.1520000Z</dcterms:modified>
</coreProperties>
</file>